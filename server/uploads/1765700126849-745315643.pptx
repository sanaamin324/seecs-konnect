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509" r:id="rId3"/>
    <p:sldId id="503" r:id="rId4"/>
    <p:sldId id="505" r:id="rId5"/>
    <p:sldId id="487" r:id="rId6"/>
    <p:sldId id="515" r:id="rId7"/>
    <p:sldId id="516" r:id="rId8"/>
    <p:sldId id="507" r:id="rId9"/>
    <p:sldId id="491" r:id="rId10"/>
    <p:sldId id="492" r:id="rId11"/>
    <p:sldId id="499" r:id="rId12"/>
    <p:sldId id="493" r:id="rId13"/>
    <p:sldId id="506" r:id="rId14"/>
    <p:sldId id="517" r:id="rId15"/>
    <p:sldId id="512" r:id="rId16"/>
    <p:sldId id="449" r:id="rId17"/>
    <p:sldId id="30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han" initials="R" lastIdx="1" clrIdx="0"/>
  <p:cmAuthor id="1" name="phallsch" initials="p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A1F28"/>
    <a:srgbClr val="002040"/>
    <a:srgbClr val="839DC5"/>
    <a:srgbClr val="CDCDCD"/>
    <a:srgbClr val="A3B4B8"/>
    <a:srgbClr val="464646"/>
    <a:srgbClr val="2DA2BF"/>
    <a:srgbClr val="486B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1" autoAdjust="0"/>
    <p:restoredTop sz="95238" autoAdjust="0"/>
  </p:normalViewPr>
  <p:slideViewPr>
    <p:cSldViewPr>
      <p:cViewPr varScale="1">
        <p:scale>
          <a:sx n="101" d="100"/>
          <a:sy n="101" d="100"/>
        </p:scale>
        <p:origin x="20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351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3FAEF-3A5E-4750-8DE6-39E2F9B8BA0D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DFF71-C5B0-403C-8729-5A32252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4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BD3DE-332C-4982-A49F-A11411F96F6E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F3417-4E1D-4DB9-8B42-6F23E440A0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8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3417-4E1D-4DB9-8B42-6F23E440A0F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90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524C6B-49BB-4593-9BD2-EC621F3372E6}" type="slidenum">
              <a:rPr lang="fa-IR"/>
              <a:pPr/>
              <a:t>3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90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0349C-F23F-4BE0-98E5-79B60541A650}" type="slidenum">
              <a:rPr lang="fa-IR"/>
              <a:pPr/>
              <a:t>4</a:t>
            </a:fld>
            <a:endParaRPr 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8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FC4B6A-1213-4713-8B4E-3B83E3E13537}" type="slidenum">
              <a:rPr lang="fa-IR"/>
              <a:pPr/>
              <a:t>8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5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FC4B6A-1213-4713-8B4E-3B83E3E13537}" type="slidenum">
              <a:rPr lang="fa-IR"/>
              <a:pPr/>
              <a:t>13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64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54046-3A3E-4F3C-A970-4A20F062EC91}" type="slidenum">
              <a:rPr lang="fa-IR"/>
              <a:pPr/>
              <a:t>15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77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3417-4E1D-4DB9-8B42-6F23E440A0F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68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file:///\\localhost\Users\anngoncalves\Desktop\UBC%20PPT%20Templates%20explore\graphic%20objects\shield.png" TargetMode="External"/><Relationship Id="rId7" Type="http://schemas.openxmlformats.org/officeDocument/2006/relationships/image" Target="file:///\\localhost\Users\anngoncalves\Desktop\UBC%20PPT%20Templates%20explore\UBC_Cliff_Tritone_annedit.jp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file:///\\localhost\Users\anngoncalves\Desktop\UBC%20PPT%20Templates%20explore\graphic%20objects\POM.png" TargetMode="Externa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- Titl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0" y="5867400"/>
            <a:ext cx="9144000" cy="358421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A48F195-C2A3-48C1-AC37-65AD8DBA1DFC}"/>
              </a:ext>
            </a:extLst>
          </p:cNvPr>
          <p:cNvSpPr/>
          <p:nvPr userDrawn="1"/>
        </p:nvSpPr>
        <p:spPr>
          <a:xfrm>
            <a:off x="0" y="0"/>
            <a:ext cx="9144000" cy="586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190499" y="3733800"/>
            <a:ext cx="8763000" cy="54307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Verdana" pitchFamily="34" charset="0"/>
              </a:defRPr>
            </a:lvl1pPr>
            <a:lvl2pPr>
              <a:buNone/>
              <a:defRPr b="0" i="0">
                <a:latin typeface="WhitneyHTF-Bold"/>
                <a:cs typeface="WhitneyHTF-Bold"/>
              </a:defRPr>
            </a:lvl2pPr>
            <a:lvl3pPr>
              <a:buNone/>
              <a:defRPr b="0" i="0">
                <a:latin typeface="WhitneyHTF-Bold"/>
                <a:cs typeface="WhitneyHTF-Bold"/>
              </a:defRPr>
            </a:lvl3pPr>
            <a:lvl4pPr>
              <a:buNone/>
              <a:defRPr b="0" i="0">
                <a:latin typeface="WhitneyHTF-Bold"/>
                <a:cs typeface="WhitneyHTF-Bold"/>
              </a:defRPr>
            </a:lvl4pPr>
            <a:lvl5pPr>
              <a:buNone/>
              <a:defRPr b="0" i="0">
                <a:latin typeface="WhitneyHTF-Bold"/>
                <a:cs typeface="WhitneyHTF-Bold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95482" y="1594128"/>
            <a:ext cx="7753035" cy="1219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Verdana" pitchFamily="34" charset="0"/>
              </a:defRPr>
            </a:lvl1pPr>
            <a:lvl2pPr>
              <a:buNone/>
              <a:defRPr b="0" i="0">
                <a:latin typeface="WhitneyHTF-Bold"/>
                <a:cs typeface="WhitneyHTF-Bold"/>
              </a:defRPr>
            </a:lvl2pPr>
            <a:lvl3pPr>
              <a:buNone/>
              <a:defRPr b="0" i="0">
                <a:latin typeface="WhitneyHTF-Bold"/>
                <a:cs typeface="WhitneyHTF-Bold"/>
              </a:defRPr>
            </a:lvl3pPr>
            <a:lvl4pPr>
              <a:buNone/>
              <a:defRPr b="0" i="0">
                <a:latin typeface="WhitneyHTF-Bold"/>
                <a:cs typeface="WhitneyHTF-Bold"/>
              </a:defRPr>
            </a:lvl4pPr>
            <a:lvl5pPr>
              <a:buNone/>
              <a:defRPr b="0" i="0">
                <a:latin typeface="WhitneyHTF-Bold"/>
                <a:cs typeface="WhitneyHTF-Bold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8DF66E-48C2-48DD-B4D1-B1F292264871}"/>
              </a:ext>
            </a:extLst>
          </p:cNvPr>
          <p:cNvGrpSpPr/>
          <p:nvPr userDrawn="1"/>
        </p:nvGrpSpPr>
        <p:grpSpPr>
          <a:xfrm>
            <a:off x="152400" y="6225821"/>
            <a:ext cx="3534706" cy="626895"/>
            <a:chOff x="3156098" y="6248756"/>
            <a:chExt cx="3610906" cy="602086"/>
          </a:xfrm>
        </p:grpSpPr>
        <p:pic>
          <p:nvPicPr>
            <p:cNvPr id="44034" name="Picture 2" descr="School of Electrical Engineering &amp; Computer Science (SEECS)">
              <a:extLst>
                <a:ext uri="{FF2B5EF4-FFF2-40B4-BE49-F238E27FC236}">
                  <a16:creationId xmlns:a16="http://schemas.microsoft.com/office/drawing/2014/main" id="{D1619799-2778-49C2-80DC-AAEFADE12C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2876" y="6248756"/>
              <a:ext cx="2634128" cy="602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036" name="Picture 4" descr="NUST SEECS">
              <a:extLst>
                <a:ext uri="{FF2B5EF4-FFF2-40B4-BE49-F238E27FC236}">
                  <a16:creationId xmlns:a16="http://schemas.microsoft.com/office/drawing/2014/main" id="{FDAE6559-B346-4F2D-B22B-BC1D21923C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6098" y="6248756"/>
              <a:ext cx="976778" cy="55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-1"/>
            <a:ext cx="9144000" cy="8229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13"/>
          <p:cNvSpPr txBox="1">
            <a:spLocks/>
          </p:cNvSpPr>
          <p:nvPr userDrawn="1"/>
        </p:nvSpPr>
        <p:spPr>
          <a:xfrm>
            <a:off x="8382000" y="6675120"/>
            <a:ext cx="762000" cy="190254"/>
          </a:xfrm>
          <a:prstGeom prst="rect">
            <a:avLst/>
          </a:prstGeom>
          <a:solidFill>
            <a:srgbClr val="DA1F28"/>
          </a:solidFill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6675120"/>
            <a:ext cx="83058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13"/>
          <p:cNvSpPr txBox="1">
            <a:spLocks/>
          </p:cNvSpPr>
          <p:nvPr userDrawn="1"/>
        </p:nvSpPr>
        <p:spPr>
          <a:xfrm>
            <a:off x="8001000" y="6248408"/>
            <a:ext cx="114300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8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13"/>
          <p:cNvSpPr txBox="1">
            <a:spLocks/>
          </p:cNvSpPr>
          <p:nvPr userDrawn="1"/>
        </p:nvSpPr>
        <p:spPr>
          <a:xfrm>
            <a:off x="8001000" y="6248408"/>
            <a:ext cx="114300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8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-1"/>
            <a:ext cx="9144000" cy="8229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2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2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3"/>
          <p:cNvSpPr txBox="1">
            <a:spLocks/>
          </p:cNvSpPr>
          <p:nvPr userDrawn="1"/>
        </p:nvSpPr>
        <p:spPr>
          <a:xfrm>
            <a:off x="8001000" y="6248408"/>
            <a:ext cx="114300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11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-1"/>
            <a:ext cx="9144000" cy="8229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5"/>
            <a:ext cx="4040188" cy="1260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914405"/>
            <a:ext cx="4041775" cy="1260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13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1"/>
            <a:ext cx="9144000" cy="8229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9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7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8" y="273053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10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5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5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10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8458200" y="6675120"/>
            <a:ext cx="685800" cy="182880"/>
          </a:xfrm>
          <a:prstGeom prst="rect">
            <a:avLst/>
          </a:prstGeom>
          <a:solidFill>
            <a:srgbClr val="DA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10" name="Slide Number Placeholder 13"/>
          <p:cNvSpPr txBox="1">
            <a:spLocks/>
          </p:cNvSpPr>
          <p:nvPr userDrawn="1"/>
        </p:nvSpPr>
        <p:spPr>
          <a:xfrm>
            <a:off x="8458200" y="6667746"/>
            <a:ext cx="457200" cy="1902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4BFE27-C559-43A6-B44E-20490FB28F65}" type="slidenum"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0" y="6675120"/>
            <a:ext cx="8382000" cy="182880"/>
          </a:xfrm>
          <a:prstGeom prst="rect">
            <a:avLst/>
          </a:prstGeom>
          <a:solidFill>
            <a:srgbClr val="46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 Slide 1: UBC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806450" y="-3175"/>
            <a:ext cx="1512888" cy="914400"/>
          </a:xfrm>
          <a:prstGeom prst="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2365377" y="-3175"/>
            <a:ext cx="6854825" cy="914400"/>
          </a:xfrm>
          <a:prstGeom prst="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-3175"/>
            <a:ext cx="763588" cy="914400"/>
          </a:xfrm>
          <a:prstGeom prst="rect">
            <a:avLst/>
          </a:prstGeom>
          <a:solidFill>
            <a:srgbClr val="00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>
                <a:solidFill>
                  <a:srgbClr val="FFFFFF"/>
                </a:solidFill>
                <a:ea typeface="ＭＳ Ｐゴシック" charset="-128"/>
              </a:rPr>
              <a:t>      </a:t>
            </a:r>
          </a:p>
        </p:txBody>
      </p:sp>
      <p:pic>
        <p:nvPicPr>
          <p:cNvPr id="7" name="shield.png" descr="/Users/anngoncalves/Desktop/UBC PPT Templates explore/graphic objects/shield.png"/>
          <p:cNvPicPr>
            <a:picLocks noChangeAspect="1"/>
          </p:cNvPicPr>
          <p:nvPr userDrawn="1"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27166" y="185460"/>
            <a:ext cx="314707" cy="427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OM.png" descr="/Users/anngoncalves/Desktop/UBC PPT Templates explore/graphic objects/POM.png"/>
          <p:cNvPicPr>
            <a:picLocks noChangeAspect="1"/>
          </p:cNvPicPr>
          <p:nvPr userDrawn="1"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1029631" y="215749"/>
            <a:ext cx="896112" cy="11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UBC_Cliff_Tritone_annedit.jpg" descr="/Users/anngoncalves/Desktop/UBC PPT Templates explore/UBC_Cliff_Tritone_annedit.jpg"/>
          <p:cNvPicPr>
            <a:picLocks noChangeAspect="1"/>
          </p:cNvPicPr>
          <p:nvPr userDrawn="1"/>
        </p:nvPicPr>
        <p:blipFill>
          <a:blip r:embed="rId6" r:link="rId7" cstate="print"/>
          <a:srcRect l="9158" t="2914" r="19727" b="2914"/>
          <a:stretch>
            <a:fillRect/>
          </a:stretch>
        </p:blipFill>
        <p:spPr bwMode="auto">
          <a:xfrm>
            <a:off x="0" y="950919"/>
            <a:ext cx="9228138" cy="590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2"/>
            <a:ext cx="247200" cy="707599"/>
          </a:xfrm>
          <a:prstGeom prst="rect">
            <a:avLst/>
          </a:prstGeom>
          <a:solidFill>
            <a:srgbClr val="18637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400">
              <a:solidFill>
                <a:srgbClr val="114454"/>
              </a:solidFill>
            </a:endParaRPr>
          </a:p>
        </p:txBody>
      </p:sp>
      <p:sp>
        <p:nvSpPr>
          <p:cNvPr id="34" name="Shape 34"/>
          <p:cNvSpPr/>
          <p:nvPr/>
        </p:nvSpPr>
        <p:spPr>
          <a:xfrm>
            <a:off x="0" y="843281"/>
            <a:ext cx="247200" cy="3271527"/>
          </a:xfrm>
          <a:prstGeom prst="rect">
            <a:avLst/>
          </a:prstGeom>
          <a:solidFill>
            <a:srgbClr val="16575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00"/>
          </a:p>
        </p:txBody>
      </p:sp>
      <p:sp>
        <p:nvSpPr>
          <p:cNvPr id="35" name="Shape 35"/>
          <p:cNvSpPr/>
          <p:nvPr/>
        </p:nvSpPr>
        <p:spPr>
          <a:xfrm>
            <a:off x="0" y="4114800"/>
            <a:ext cx="247200" cy="807200"/>
          </a:xfrm>
          <a:prstGeom prst="rect">
            <a:avLst/>
          </a:prstGeom>
          <a:solidFill>
            <a:srgbClr val="3B8D6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00"/>
          </a:p>
        </p:txBody>
      </p:sp>
      <p:sp>
        <p:nvSpPr>
          <p:cNvPr id="36" name="Shape 36"/>
          <p:cNvSpPr/>
          <p:nvPr/>
        </p:nvSpPr>
        <p:spPr>
          <a:xfrm>
            <a:off x="0" y="4922002"/>
            <a:ext cx="247200" cy="1935999"/>
          </a:xfrm>
          <a:prstGeom prst="rect">
            <a:avLst/>
          </a:prstGeom>
          <a:solidFill>
            <a:srgbClr val="94BF6E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00"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899419" y="1419765"/>
            <a:ext cx="7952483" cy="510803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800">
                <a:latin typeface="Palatino Linotype" panose="02040502050505030304" pitchFamily="18" charset="0"/>
              </a:defRPr>
            </a:lvl1pPr>
            <a:lvl2pPr lvl="1">
              <a:spcBef>
                <a:spcPts val="0"/>
              </a:spcBef>
              <a:buSzPct val="100000"/>
              <a:defRPr sz="2800"/>
            </a:lvl2pPr>
            <a:lvl3pPr lvl="2">
              <a:spcBef>
                <a:spcPts val="0"/>
              </a:spcBef>
              <a:buSzPct val="100000"/>
              <a:defRPr sz="2800"/>
            </a:lvl3pPr>
            <a:lvl4pPr lvl="3">
              <a:spcBef>
                <a:spcPts val="0"/>
              </a:spcBef>
              <a:buSzPct val="100000"/>
              <a:defRPr sz="2800"/>
            </a:lvl4pPr>
            <a:lvl5pPr lvl="4">
              <a:spcBef>
                <a:spcPts val="0"/>
              </a:spcBef>
              <a:buSzPct val="100000"/>
              <a:defRPr sz="2800"/>
            </a:lvl5pPr>
            <a:lvl6pPr lvl="5">
              <a:spcBef>
                <a:spcPts val="0"/>
              </a:spcBef>
              <a:buSzPct val="100000"/>
              <a:defRPr sz="2800"/>
            </a:lvl6pPr>
            <a:lvl7pPr lvl="6">
              <a:spcBef>
                <a:spcPts val="0"/>
              </a:spcBef>
              <a:buSzPct val="100000"/>
              <a:defRPr sz="2800"/>
            </a:lvl7pPr>
            <a:lvl8pPr lvl="7">
              <a:spcBef>
                <a:spcPts val="0"/>
              </a:spcBef>
              <a:buSzPct val="100000"/>
              <a:defRPr sz="2800"/>
            </a:lvl8pPr>
            <a:lvl9pPr lvl="8">
              <a:spcBef>
                <a:spcPts val="0"/>
              </a:spcBef>
              <a:buSzPct val="100000"/>
              <a:defRPr sz="2800"/>
            </a:lvl9pPr>
          </a:lstStyle>
          <a:p>
            <a:endParaRPr dirty="0"/>
          </a:p>
        </p:txBody>
      </p:sp>
      <p:sp>
        <p:nvSpPr>
          <p:cNvPr id="19" name="Rounded Rectangle 18"/>
          <p:cNvSpPr/>
          <p:nvPr userDrawn="1"/>
        </p:nvSpPr>
        <p:spPr>
          <a:xfrm>
            <a:off x="0" y="207284"/>
            <a:ext cx="8845685" cy="853440"/>
          </a:xfrm>
          <a:prstGeom prst="roundRect">
            <a:avLst>
              <a:gd name="adj" fmla="val 12220"/>
            </a:avLst>
          </a:prstGeom>
          <a:solidFill>
            <a:srgbClr val="124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0" name="Shape 37"/>
          <p:cNvCxnSpPr/>
          <p:nvPr userDrawn="1"/>
        </p:nvCxnSpPr>
        <p:spPr>
          <a:xfrm>
            <a:off x="817317" y="315009"/>
            <a:ext cx="0" cy="659140"/>
          </a:xfrm>
          <a:prstGeom prst="straightConnector1">
            <a:avLst/>
          </a:prstGeom>
          <a:noFill/>
          <a:ln w="2857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" name="Shape 38"/>
          <p:cNvSpPr txBox="1">
            <a:spLocks noGrp="1"/>
          </p:cNvSpPr>
          <p:nvPr>
            <p:ph type="title"/>
          </p:nvPr>
        </p:nvSpPr>
        <p:spPr>
          <a:xfrm>
            <a:off x="924649" y="297695"/>
            <a:ext cx="7761825" cy="673856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3733">
                <a:latin typeface="Palatino Linotype" panose="02040502050505030304" pitchFamily="18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lang="en-US" dirty="0"/>
          </a:p>
        </p:txBody>
      </p:sp>
      <p:cxnSp>
        <p:nvCxnSpPr>
          <p:cNvPr id="22" name="Shape 37"/>
          <p:cNvCxnSpPr/>
          <p:nvPr userDrawn="1"/>
        </p:nvCxnSpPr>
        <p:spPr>
          <a:xfrm>
            <a:off x="8904677" y="297695"/>
            <a:ext cx="0" cy="659140"/>
          </a:xfrm>
          <a:prstGeom prst="straightConnector1">
            <a:avLst/>
          </a:prstGeom>
          <a:noFill/>
          <a:ln w="2857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2" name="Shape 112"/>
          <p:cNvGrpSpPr/>
          <p:nvPr userDrawn="1"/>
        </p:nvGrpSpPr>
        <p:grpSpPr>
          <a:xfrm>
            <a:off x="247201" y="429325"/>
            <a:ext cx="366457" cy="366436"/>
            <a:chOff x="1923675" y="1633650"/>
            <a:chExt cx="436000" cy="435975"/>
          </a:xfrm>
        </p:grpSpPr>
        <p:sp>
          <p:nvSpPr>
            <p:cNvPr id="13" name="Shape 113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0" t="0" r="0" b="0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400"/>
            </a:p>
          </p:txBody>
        </p:sp>
        <p:sp>
          <p:nvSpPr>
            <p:cNvPr id="14" name="Shape 114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0" t="0" r="0" b="0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400"/>
            </a:p>
          </p:txBody>
        </p:sp>
        <p:sp>
          <p:nvSpPr>
            <p:cNvPr id="15" name="Shape 115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0" t="0" r="0" b="0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400"/>
            </a:p>
          </p:txBody>
        </p:sp>
        <p:sp>
          <p:nvSpPr>
            <p:cNvPr id="16" name="Shape 116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0" t="0" r="0" b="0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400"/>
            </a:p>
          </p:txBody>
        </p:sp>
        <p:sp>
          <p:nvSpPr>
            <p:cNvPr id="17" name="Shape 117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0" t="0" r="0" b="0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400"/>
            </a:p>
          </p:txBody>
        </p:sp>
        <p:sp>
          <p:nvSpPr>
            <p:cNvPr id="18" name="Shape 118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0" t="0" r="0" b="0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68569" tIns="68569" rIns="68569" bIns="68569" anchor="ctr" anchorCtr="0">
              <a:noAutofit/>
            </a:bodyPr>
            <a:lstStyle/>
            <a:p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22003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6868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49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1" r:id="rId12"/>
    <p:sldLayoutId id="2147483662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4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190499" y="3352800"/>
            <a:ext cx="8763000" cy="1828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AVR Assembly </a:t>
            </a:r>
          </a:p>
          <a:p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2958220" y="5867400"/>
            <a:ext cx="35814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Verdana" pitchFamily="34" charset="0"/>
              <a:cs typeface="Calibri" pitchFamily="34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5334000" y="4648200"/>
            <a:ext cx="33528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80000"/>
              </a:lnSpc>
              <a:spcBef>
                <a:spcPct val="0"/>
              </a:spcBef>
              <a:defRPr/>
            </a:pPr>
            <a:endParaRPr lang="en-US" sz="2400" i="1" dirty="0">
              <a:solidFill>
                <a:schemeClr val="bg1"/>
              </a:solidFill>
              <a:latin typeface="Calibri" pitchFamily="34" charset="0"/>
              <a:ea typeface="Verdana" pitchFamily="34" charset="0"/>
              <a:cs typeface="Calibri" pitchFamily="34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0" y="5105400"/>
            <a:ext cx="91440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dirty="0">
                <a:solidFill>
                  <a:srgbClr val="7030A0"/>
                </a:solidFill>
                <a:latin typeface="Calibri" pitchFamily="34" charset="0"/>
                <a:ea typeface="Verdana" pitchFamily="34" charset="0"/>
                <a:cs typeface="Calibri" pitchFamily="34" charset="0"/>
              </a:rPr>
              <a:t>Slight modification of slides shared by Dr. </a:t>
            </a:r>
            <a:r>
              <a:rPr lang="en-US" dirty="0" err="1">
                <a:solidFill>
                  <a:srgbClr val="7030A0"/>
                </a:solidFill>
                <a:latin typeface="Calibri" pitchFamily="34" charset="0"/>
                <a:ea typeface="Verdana" pitchFamily="34" charset="0"/>
                <a:cs typeface="Calibri" pitchFamily="34" charset="0"/>
              </a:rPr>
              <a:t>Rehan</a:t>
            </a:r>
            <a:r>
              <a:rPr lang="en-US" dirty="0">
                <a:solidFill>
                  <a:srgbClr val="7030A0"/>
                </a:solidFill>
                <a:latin typeface="Calibri" pitchFamily="34" charset="0"/>
                <a:ea typeface="Verdana" pitchFamily="34" charset="0"/>
                <a:cs typeface="Calibri" pitchFamily="34" charset="0"/>
              </a:rPr>
              <a:t> Ahmed</a:t>
            </a:r>
            <a:endParaRPr 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Verdana" pitchFamily="34" charset="0"/>
              <a:cs typeface="Calibri" pitchFamily="34" charset="0"/>
            </a:endParaRP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-1" y="5829300"/>
            <a:ext cx="91440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Verdana" pitchFamily="34" charset="0"/>
                <a:cs typeface="Calibri" pitchFamily="34" charset="0"/>
              </a:rPr>
              <a:t>Instructor: Asra Abid Siddiqui [asiddiqui.phd20seecs@seecs.edu.pk]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Verdana" pitchFamily="34" charset="0"/>
              <a:cs typeface="Calibri" pitchFamily="34" charset="0"/>
            </a:endParaRP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9998D37-2CEE-BE2D-ECBE-09AB669351F1}"/>
              </a:ext>
            </a:extLst>
          </p:cNvPr>
          <p:cNvSpPr>
            <a:spLocks noGrp="1"/>
          </p:cNvSpPr>
          <p:nvPr/>
        </p:nvSpPr>
        <p:spPr>
          <a:xfrm>
            <a:off x="133350" y="1219200"/>
            <a:ext cx="8877299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90000"/>
                    <a:lumOff val="10000"/>
                  </a:schemeClr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i="0" kern="1200">
                <a:solidFill>
                  <a:schemeClr val="tx1"/>
                </a:solidFill>
                <a:latin typeface="WhitneyHTF-Bold"/>
                <a:ea typeface="Verdana" pitchFamily="34" charset="0"/>
                <a:cs typeface="WhitneyHTF-Bold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WhitneyHTF-Bold"/>
                <a:ea typeface="Verdana" pitchFamily="34" charset="0"/>
                <a:cs typeface="WhitneyHTF-Bold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WhitneyHTF-Bold"/>
                <a:ea typeface="Verdana" pitchFamily="34" charset="0"/>
                <a:cs typeface="WhitneyHTF-Bold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WhitneyHTF-Bold"/>
                <a:ea typeface="Verdana" pitchFamily="34" charset="0"/>
                <a:cs typeface="WhitneyHTF-Bold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CS-336: Embedded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4D2228-7217-45EE-ACC2-BF902FC9E8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686800" cy="685800"/>
          </a:xfrm>
        </p:spPr>
        <p:txBody>
          <a:bodyPr/>
          <a:lstStyle/>
          <a:p>
            <a:r>
              <a:rPr lang="en-US" dirty="0"/>
              <a:t>Modeling Finite State Machines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1F307-F8B0-4FD8-BD9A-82808905622A}"/>
              </a:ext>
            </a:extLst>
          </p:cNvPr>
          <p:cNvSpPr txBox="1"/>
          <p:nvPr/>
        </p:nvSpPr>
        <p:spPr>
          <a:xfrm>
            <a:off x="696501" y="2590800"/>
            <a:ext cx="7751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Some More Assembly Instructions …</a:t>
            </a:r>
          </a:p>
        </p:txBody>
      </p:sp>
    </p:spTree>
    <p:extLst>
      <p:ext uri="{BB962C8B-B14F-4D97-AF65-F5344CB8AC3E}">
        <p14:creationId xmlns:p14="http://schemas.microsoft.com/office/powerpoint/2010/main" val="49750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Subtraction</a:t>
            </a:r>
            <a:endParaRPr lang="en-US" sz="24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077913"/>
            <a:ext cx="8726488" cy="5381625"/>
          </a:xfrm>
        </p:spPr>
        <p:txBody>
          <a:bodyPr/>
          <a:lstStyle/>
          <a:p>
            <a:pPr marL="457200" indent="-457200"/>
            <a:r>
              <a:rPr lang="en-US" dirty="0">
                <a:solidFill>
                  <a:srgbClr val="0000FF"/>
                </a:solidFill>
              </a:rPr>
              <a:t>SUB Rd, </a:t>
            </a:r>
            <a:r>
              <a:rPr lang="en-US" dirty="0" err="1">
                <a:solidFill>
                  <a:srgbClr val="0000FF"/>
                </a:solidFill>
              </a:rPr>
              <a:t>Rs</a:t>
            </a:r>
            <a:endParaRPr lang="en-US" dirty="0">
              <a:solidFill>
                <a:srgbClr val="0000FF"/>
              </a:solidFill>
            </a:endParaRPr>
          </a:p>
          <a:p>
            <a:pPr marL="876300" lvl="1" indent="-419100"/>
            <a:r>
              <a:rPr lang="en-US" dirty="0"/>
              <a:t>Rd = Rd – </a:t>
            </a:r>
            <a:r>
              <a:rPr lang="en-US" dirty="0" err="1"/>
              <a:t>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indent="-457200"/>
            <a:r>
              <a:rPr lang="en-US" dirty="0"/>
              <a:t>Example:</a:t>
            </a:r>
          </a:p>
          <a:p>
            <a:pPr marL="876300" lvl="1" indent="-419100"/>
            <a:r>
              <a:rPr lang="en-US" dirty="0"/>
              <a:t>SUB R25, R9</a:t>
            </a:r>
          </a:p>
          <a:p>
            <a:pPr marL="1295400" lvl="2" indent="-381000"/>
            <a:r>
              <a:rPr lang="en-US" dirty="0"/>
              <a:t>R25 = R25 - R9</a:t>
            </a:r>
          </a:p>
          <a:p>
            <a:pPr marL="876300" lvl="1" indent="-419100"/>
            <a:r>
              <a:rPr lang="en-US" dirty="0"/>
              <a:t>SUB R17, R30</a:t>
            </a:r>
          </a:p>
          <a:p>
            <a:pPr marL="1295400" lvl="2" indent="-381000"/>
            <a:r>
              <a:rPr lang="en-US" dirty="0"/>
              <a:t>R17 = R17 - R30</a:t>
            </a:r>
          </a:p>
        </p:txBody>
      </p:sp>
      <p:grpSp>
        <p:nvGrpSpPr>
          <p:cNvPr id="149" name="Group 97"/>
          <p:cNvGrpSpPr>
            <a:grpSpLocks/>
          </p:cNvGrpSpPr>
          <p:nvPr/>
        </p:nvGrpSpPr>
        <p:grpSpPr bwMode="auto">
          <a:xfrm>
            <a:off x="5232400" y="2894013"/>
            <a:ext cx="3683000" cy="3578225"/>
            <a:chOff x="3296" y="1823"/>
            <a:chExt cx="2320" cy="2254"/>
          </a:xfrm>
        </p:grpSpPr>
        <p:sp>
          <p:nvSpPr>
            <p:cNvPr id="150" name="Rectangle 98"/>
            <p:cNvSpPr>
              <a:spLocks noChangeArrowheads="1"/>
            </p:cNvSpPr>
            <p:nvPr/>
          </p:nvSpPr>
          <p:spPr bwMode="auto">
            <a:xfrm>
              <a:off x="3296" y="1823"/>
              <a:ext cx="2320" cy="225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51" name="Rectangle 99"/>
            <p:cNvSpPr>
              <a:spLocks noChangeArrowheads="1"/>
            </p:cNvSpPr>
            <p:nvPr/>
          </p:nvSpPr>
          <p:spPr bwMode="auto">
            <a:xfrm>
              <a:off x="3634" y="3203"/>
              <a:ext cx="977" cy="158"/>
            </a:xfrm>
            <a:prstGeom prst="rect">
              <a:avLst/>
            </a:prstGeom>
            <a:solidFill>
              <a:srgbClr val="F4EE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152" name="Rectangle 100"/>
            <p:cNvSpPr>
              <a:spLocks noChangeArrowheads="1"/>
            </p:cNvSpPr>
            <p:nvPr/>
          </p:nvSpPr>
          <p:spPr bwMode="auto">
            <a:xfrm>
              <a:off x="3428" y="1987"/>
              <a:ext cx="754" cy="598"/>
            </a:xfrm>
            <a:prstGeom prst="rect">
              <a:avLst/>
            </a:prstGeom>
            <a:solidFill>
              <a:srgbClr val="33CC3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153" name="Rectangle 101"/>
            <p:cNvSpPr>
              <a:spLocks noChangeArrowheads="1"/>
            </p:cNvSpPr>
            <p:nvPr/>
          </p:nvSpPr>
          <p:spPr bwMode="auto">
            <a:xfrm>
              <a:off x="4858" y="1982"/>
              <a:ext cx="663" cy="1949"/>
            </a:xfrm>
            <a:prstGeom prst="rect">
              <a:avLst/>
            </a:prstGeom>
            <a:solidFill>
              <a:srgbClr val="4E91A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Text Box 102"/>
            <p:cNvSpPr txBox="1">
              <a:spLocks noChangeArrowheads="1"/>
            </p:cNvSpPr>
            <p:nvPr/>
          </p:nvSpPr>
          <p:spPr bwMode="auto">
            <a:xfrm>
              <a:off x="4864" y="3781"/>
              <a:ext cx="65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</a:p>
          </p:txBody>
        </p:sp>
        <p:grpSp>
          <p:nvGrpSpPr>
            <p:cNvPr id="155" name="Group 103"/>
            <p:cNvGrpSpPr>
              <a:grpSpLocks/>
            </p:cNvGrpSpPr>
            <p:nvPr/>
          </p:nvGrpSpPr>
          <p:grpSpPr bwMode="auto">
            <a:xfrm>
              <a:off x="4928" y="2040"/>
              <a:ext cx="516" cy="1695"/>
              <a:chOff x="4410" y="2694"/>
              <a:chExt cx="641" cy="1337"/>
            </a:xfrm>
          </p:grpSpPr>
          <p:sp>
            <p:nvSpPr>
              <p:cNvPr id="180" name="Rectangle 104"/>
              <p:cNvSpPr>
                <a:spLocks noChangeArrowheads="1"/>
              </p:cNvSpPr>
              <p:nvPr/>
            </p:nvSpPr>
            <p:spPr bwMode="auto">
              <a:xfrm>
                <a:off x="4410" y="2806"/>
                <a:ext cx="641" cy="111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</a:t>
                </a:r>
              </a:p>
            </p:txBody>
          </p:sp>
          <p:sp>
            <p:nvSpPr>
              <p:cNvPr id="181" name="Rectangle 105"/>
              <p:cNvSpPr>
                <a:spLocks noChangeArrowheads="1"/>
              </p:cNvSpPr>
              <p:nvPr/>
            </p:nvSpPr>
            <p:spPr bwMode="auto">
              <a:xfrm>
                <a:off x="4410" y="2694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R0</a:t>
                </a:r>
              </a:p>
            </p:txBody>
          </p:sp>
          <p:sp>
            <p:nvSpPr>
              <p:cNvPr id="182" name="Rectangle 106"/>
              <p:cNvSpPr>
                <a:spLocks noChangeArrowheads="1"/>
              </p:cNvSpPr>
              <p:nvPr/>
            </p:nvSpPr>
            <p:spPr bwMode="auto">
              <a:xfrm>
                <a:off x="4410" y="3249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R15</a:t>
                </a:r>
              </a:p>
            </p:txBody>
          </p:sp>
          <p:sp>
            <p:nvSpPr>
              <p:cNvPr id="183" name="Rectangle 107"/>
              <p:cNvSpPr>
                <a:spLocks noChangeArrowheads="1"/>
              </p:cNvSpPr>
              <p:nvPr/>
            </p:nvSpPr>
            <p:spPr bwMode="auto">
              <a:xfrm>
                <a:off x="4410" y="2917"/>
                <a:ext cx="641" cy="111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R2</a:t>
                </a:r>
              </a:p>
            </p:txBody>
          </p:sp>
          <p:sp>
            <p:nvSpPr>
              <p:cNvPr id="184" name="Line 108"/>
              <p:cNvSpPr>
                <a:spLocks noChangeShapeType="1"/>
              </p:cNvSpPr>
              <p:nvPr/>
            </p:nvSpPr>
            <p:spPr bwMode="auto">
              <a:xfrm>
                <a:off x="4410" y="2694"/>
                <a:ext cx="0" cy="128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Line 109"/>
              <p:cNvSpPr>
                <a:spLocks noChangeShapeType="1"/>
              </p:cNvSpPr>
              <p:nvPr/>
            </p:nvSpPr>
            <p:spPr bwMode="auto">
              <a:xfrm>
                <a:off x="5051" y="2694"/>
                <a:ext cx="0" cy="128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Line 110"/>
              <p:cNvSpPr>
                <a:spLocks noChangeShapeType="1"/>
              </p:cNvSpPr>
              <p:nvPr/>
            </p:nvSpPr>
            <p:spPr bwMode="auto">
              <a:xfrm>
                <a:off x="4410" y="2694"/>
                <a:ext cx="64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" name="Group 111"/>
              <p:cNvGrpSpPr>
                <a:grpSpLocks/>
              </p:cNvGrpSpPr>
              <p:nvPr/>
            </p:nvGrpSpPr>
            <p:grpSpPr bwMode="auto">
              <a:xfrm>
                <a:off x="4410" y="3028"/>
                <a:ext cx="641" cy="224"/>
                <a:chOff x="4410" y="3028"/>
                <a:chExt cx="641" cy="224"/>
              </a:xfrm>
            </p:grpSpPr>
            <p:sp>
              <p:nvSpPr>
                <p:cNvPr id="195" name="Rectangle 112"/>
                <p:cNvSpPr>
                  <a:spLocks noChangeArrowheads="1"/>
                </p:cNvSpPr>
                <p:nvPr/>
              </p:nvSpPr>
              <p:spPr bwMode="auto">
                <a:xfrm>
                  <a:off x="4410" y="3028"/>
                  <a:ext cx="641" cy="222"/>
                </a:xfrm>
                <a:prstGeom prst="rect">
                  <a:avLst/>
                </a:prstGeom>
                <a:solidFill>
                  <a:srgbClr val="BD3754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Text Box 113"/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62" y="3009"/>
                  <a:ext cx="22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sp>
            <p:nvSpPr>
              <p:cNvPr id="188" name="Rectangle 114"/>
              <p:cNvSpPr>
                <a:spLocks noChangeArrowheads="1"/>
              </p:cNvSpPr>
              <p:nvPr/>
            </p:nvSpPr>
            <p:spPr bwMode="auto">
              <a:xfrm>
                <a:off x="4410" y="3361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R16</a:t>
                </a:r>
              </a:p>
            </p:txBody>
          </p:sp>
          <p:sp>
            <p:nvSpPr>
              <p:cNvPr id="189" name="Rectangle 115"/>
              <p:cNvSpPr>
                <a:spLocks noChangeArrowheads="1"/>
              </p:cNvSpPr>
              <p:nvPr/>
            </p:nvSpPr>
            <p:spPr bwMode="auto">
              <a:xfrm>
                <a:off x="4410" y="3473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R17</a:t>
                </a:r>
              </a:p>
            </p:txBody>
          </p:sp>
          <p:grpSp>
            <p:nvGrpSpPr>
              <p:cNvPr id="190" name="Group 116"/>
              <p:cNvGrpSpPr>
                <a:grpSpLocks/>
              </p:cNvGrpSpPr>
              <p:nvPr/>
            </p:nvGrpSpPr>
            <p:grpSpPr bwMode="auto">
              <a:xfrm>
                <a:off x="4410" y="3586"/>
                <a:ext cx="641" cy="222"/>
                <a:chOff x="4410" y="3028"/>
                <a:chExt cx="641" cy="222"/>
              </a:xfrm>
            </p:grpSpPr>
            <p:sp>
              <p:nvSpPr>
                <p:cNvPr id="193" name="Rectangle 117"/>
                <p:cNvSpPr>
                  <a:spLocks noChangeArrowheads="1"/>
                </p:cNvSpPr>
                <p:nvPr/>
              </p:nvSpPr>
              <p:spPr bwMode="auto">
                <a:xfrm>
                  <a:off x="4410" y="3028"/>
                  <a:ext cx="641" cy="222"/>
                </a:xfrm>
                <a:prstGeom prst="rect">
                  <a:avLst/>
                </a:prstGeom>
                <a:solidFill>
                  <a:srgbClr val="BD3754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" name="Text Box 118"/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62" y="3007"/>
                  <a:ext cx="22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sp>
            <p:nvSpPr>
              <p:cNvPr id="191" name="Rectangle 119"/>
              <p:cNvSpPr>
                <a:spLocks noChangeArrowheads="1"/>
              </p:cNvSpPr>
              <p:nvPr/>
            </p:nvSpPr>
            <p:spPr bwMode="auto">
              <a:xfrm>
                <a:off x="4410" y="3807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R30</a:t>
                </a:r>
              </a:p>
            </p:txBody>
          </p:sp>
          <p:sp>
            <p:nvSpPr>
              <p:cNvPr id="192" name="Rectangle 120"/>
              <p:cNvSpPr>
                <a:spLocks noChangeArrowheads="1"/>
              </p:cNvSpPr>
              <p:nvPr/>
            </p:nvSpPr>
            <p:spPr bwMode="auto">
              <a:xfrm>
                <a:off x="4410" y="3919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R31</a:t>
                </a:r>
              </a:p>
            </p:txBody>
          </p:sp>
        </p:grpSp>
        <p:sp>
          <p:nvSpPr>
            <p:cNvPr id="156" name="Rectangle 121"/>
            <p:cNvSpPr>
              <a:spLocks noChangeArrowheads="1"/>
            </p:cNvSpPr>
            <p:nvPr/>
          </p:nvSpPr>
          <p:spPr bwMode="auto">
            <a:xfrm>
              <a:off x="3411" y="3483"/>
              <a:ext cx="1392" cy="448"/>
            </a:xfrm>
            <a:prstGeom prst="rect">
              <a:avLst/>
            </a:prstGeom>
            <a:solidFill>
              <a:srgbClr val="BA8A44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Rectangle 122"/>
            <p:cNvSpPr>
              <a:spLocks noChangeArrowheads="1"/>
            </p:cNvSpPr>
            <p:nvPr/>
          </p:nvSpPr>
          <p:spPr bwMode="auto">
            <a:xfrm>
              <a:off x="3723" y="3744"/>
              <a:ext cx="809" cy="121"/>
            </a:xfrm>
            <a:prstGeom prst="rect">
              <a:avLst/>
            </a:prstGeom>
            <a:solidFill>
              <a:srgbClr val="E4F39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Instruction Register</a:t>
              </a:r>
            </a:p>
          </p:txBody>
        </p:sp>
        <p:sp>
          <p:nvSpPr>
            <p:cNvPr id="158" name="Text Box 123"/>
            <p:cNvSpPr txBox="1">
              <a:spLocks noChangeArrowheads="1"/>
            </p:cNvSpPr>
            <p:nvPr/>
          </p:nvSpPr>
          <p:spPr bwMode="auto">
            <a:xfrm>
              <a:off x="3439" y="3478"/>
              <a:ext cx="13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Instruction decoder</a:t>
              </a:r>
            </a:p>
          </p:txBody>
        </p:sp>
        <p:sp>
          <p:nvSpPr>
            <p:cNvPr id="159" name="Text Box 124"/>
            <p:cNvSpPr txBox="1">
              <a:spLocks noChangeArrowheads="1"/>
            </p:cNvSpPr>
            <p:nvPr/>
          </p:nvSpPr>
          <p:spPr bwMode="auto">
            <a:xfrm>
              <a:off x="4285" y="2516"/>
              <a:ext cx="11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Rectangle 125"/>
            <p:cNvSpPr>
              <a:spLocks noChangeArrowheads="1"/>
            </p:cNvSpPr>
            <p:nvPr/>
          </p:nvSpPr>
          <p:spPr bwMode="auto">
            <a:xfrm>
              <a:off x="3428" y="2626"/>
              <a:ext cx="1232" cy="164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1" name="Group 126"/>
            <p:cNvGrpSpPr>
              <a:grpSpLocks/>
            </p:cNvGrpSpPr>
            <p:nvPr/>
          </p:nvGrpSpPr>
          <p:grpSpPr bwMode="auto">
            <a:xfrm>
              <a:off x="3402" y="2623"/>
              <a:ext cx="1234" cy="182"/>
              <a:chOff x="3050" y="1265"/>
              <a:chExt cx="1234" cy="182"/>
            </a:xfrm>
          </p:grpSpPr>
          <p:sp>
            <p:nvSpPr>
              <p:cNvPr id="162" name="Text Box 127"/>
              <p:cNvSpPr txBox="1">
                <a:spLocks noChangeArrowheads="1"/>
              </p:cNvSpPr>
              <p:nvPr/>
            </p:nvSpPr>
            <p:spPr bwMode="auto">
              <a:xfrm>
                <a:off x="3050" y="1265"/>
                <a:ext cx="50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SREG:</a:t>
                </a:r>
              </a:p>
            </p:txBody>
          </p:sp>
          <p:grpSp>
            <p:nvGrpSpPr>
              <p:cNvPr id="163" name="Group 128"/>
              <p:cNvGrpSpPr>
                <a:grpSpLocks/>
              </p:cNvGrpSpPr>
              <p:nvPr/>
            </p:nvGrpSpPr>
            <p:grpSpPr bwMode="auto">
              <a:xfrm>
                <a:off x="3421" y="1284"/>
                <a:ext cx="863" cy="163"/>
                <a:chOff x="4122" y="3796"/>
                <a:chExt cx="1027" cy="196"/>
              </a:xfrm>
            </p:grpSpPr>
            <p:sp>
              <p:nvSpPr>
                <p:cNvPr id="164" name="Rectangle 129"/>
                <p:cNvSpPr>
                  <a:spLocks noChangeArrowheads="1"/>
                </p:cNvSpPr>
                <p:nvPr/>
              </p:nvSpPr>
              <p:spPr bwMode="auto">
                <a:xfrm>
                  <a:off x="4143" y="3805"/>
                  <a:ext cx="990" cy="146"/>
                </a:xfrm>
                <a:prstGeom prst="rect">
                  <a:avLst/>
                </a:prstGeom>
                <a:solidFill>
                  <a:srgbClr val="E4F39B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Line 130"/>
                <p:cNvSpPr>
                  <a:spLocks noChangeShapeType="1"/>
                </p:cNvSpPr>
                <p:nvPr/>
              </p:nvSpPr>
              <p:spPr bwMode="auto">
                <a:xfrm>
                  <a:off x="4632" y="3802"/>
                  <a:ext cx="0" cy="1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" name="Line 131"/>
                <p:cNvSpPr>
                  <a:spLocks noChangeShapeType="1"/>
                </p:cNvSpPr>
                <p:nvPr/>
              </p:nvSpPr>
              <p:spPr bwMode="auto">
                <a:xfrm>
                  <a:off x="4382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" name="Line 132"/>
                <p:cNvSpPr>
                  <a:spLocks noChangeShapeType="1"/>
                </p:cNvSpPr>
                <p:nvPr/>
              </p:nvSpPr>
              <p:spPr bwMode="auto">
                <a:xfrm flipH="1">
                  <a:off x="4507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" name="Line 133"/>
                <p:cNvSpPr>
                  <a:spLocks noChangeShapeType="1"/>
                </p:cNvSpPr>
                <p:nvPr/>
              </p:nvSpPr>
              <p:spPr bwMode="auto">
                <a:xfrm flipH="1">
                  <a:off x="4256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" name="Line 134"/>
                <p:cNvSpPr>
                  <a:spLocks noChangeShapeType="1"/>
                </p:cNvSpPr>
                <p:nvPr/>
              </p:nvSpPr>
              <p:spPr bwMode="auto">
                <a:xfrm>
                  <a:off x="5006" y="3803"/>
                  <a:ext cx="0" cy="1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" name="Line 135"/>
                <p:cNvSpPr>
                  <a:spLocks noChangeShapeType="1"/>
                </p:cNvSpPr>
                <p:nvPr/>
              </p:nvSpPr>
              <p:spPr bwMode="auto">
                <a:xfrm>
                  <a:off x="4757" y="3801"/>
                  <a:ext cx="0" cy="1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4882" y="3807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" name="Text Box 137"/>
                <p:cNvSpPr txBox="1">
                  <a:spLocks noChangeArrowheads="1"/>
                </p:cNvSpPr>
                <p:nvPr/>
              </p:nvSpPr>
              <p:spPr bwMode="auto">
                <a:xfrm>
                  <a:off x="4122" y="3802"/>
                  <a:ext cx="147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173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4233" y="3806"/>
                  <a:ext cx="157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174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355" y="3800"/>
                  <a:ext cx="173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75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4482" y="3802"/>
                  <a:ext cx="173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176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4603" y="3802"/>
                  <a:ext cx="173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</a:p>
              </p:txBody>
            </p:sp>
            <p:sp>
              <p:nvSpPr>
                <p:cNvPr id="177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732" y="3796"/>
                  <a:ext cx="174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178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4988" y="3802"/>
                  <a:ext cx="161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179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4857" y="3800"/>
                  <a:ext cx="174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0752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Increment and Decrement</a:t>
            </a:r>
            <a:endParaRPr lang="en-US" sz="24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077913"/>
            <a:ext cx="8726488" cy="5381625"/>
          </a:xfrm>
        </p:spPr>
        <p:txBody>
          <a:bodyPr/>
          <a:lstStyle/>
          <a:p>
            <a:pPr marL="457200" indent="-457200"/>
            <a:r>
              <a:rPr lang="en-US" dirty="0">
                <a:solidFill>
                  <a:srgbClr val="0000FF"/>
                </a:solidFill>
              </a:rPr>
              <a:t>INC Rd</a:t>
            </a:r>
          </a:p>
          <a:p>
            <a:pPr marL="876300" lvl="1" indent="-419100"/>
            <a:r>
              <a:rPr lang="en-US" dirty="0"/>
              <a:t>Rd = Rd + 1</a:t>
            </a:r>
          </a:p>
          <a:p>
            <a:pPr marL="457200" indent="-457200"/>
            <a:r>
              <a:rPr lang="en-US" dirty="0"/>
              <a:t>Example:</a:t>
            </a:r>
          </a:p>
          <a:p>
            <a:pPr marL="876300" lvl="1" indent="-419100"/>
            <a:r>
              <a:rPr lang="en-US" dirty="0"/>
              <a:t>INC R25</a:t>
            </a:r>
          </a:p>
          <a:p>
            <a:pPr marL="1295400" lvl="2" indent="-381000"/>
            <a:r>
              <a:rPr lang="en-US" dirty="0"/>
              <a:t>R25 = R25 + 1</a:t>
            </a:r>
          </a:p>
          <a:p>
            <a:pPr marL="876300" lvl="1" indent="-419100"/>
            <a:endParaRPr lang="en-US" dirty="0"/>
          </a:p>
          <a:p>
            <a:pPr marL="457200" indent="-457200"/>
            <a:r>
              <a:rPr lang="en-US" dirty="0">
                <a:solidFill>
                  <a:srgbClr val="0000FF"/>
                </a:solidFill>
              </a:rPr>
              <a:t>DEC Rd</a:t>
            </a:r>
          </a:p>
          <a:p>
            <a:pPr marL="876300" lvl="1" indent="-419100"/>
            <a:r>
              <a:rPr lang="en-US" dirty="0"/>
              <a:t>Rd = Rd - 1</a:t>
            </a:r>
          </a:p>
          <a:p>
            <a:pPr marL="457200" indent="-457200"/>
            <a:r>
              <a:rPr lang="en-US" dirty="0"/>
              <a:t>Example:</a:t>
            </a:r>
          </a:p>
          <a:p>
            <a:pPr marL="876300" lvl="1" indent="-419100"/>
            <a:r>
              <a:rPr lang="en-US" dirty="0"/>
              <a:t>DEC R23</a:t>
            </a:r>
          </a:p>
          <a:p>
            <a:pPr marL="1295400" lvl="2" indent="-381000"/>
            <a:r>
              <a:rPr lang="en-US" dirty="0"/>
              <a:t>R23 = R23 - 1</a:t>
            </a:r>
          </a:p>
        </p:txBody>
      </p:sp>
      <p:grpSp>
        <p:nvGrpSpPr>
          <p:cNvPr id="53" name="Group 54"/>
          <p:cNvGrpSpPr>
            <a:grpSpLocks/>
          </p:cNvGrpSpPr>
          <p:nvPr/>
        </p:nvGrpSpPr>
        <p:grpSpPr bwMode="auto">
          <a:xfrm>
            <a:off x="5232400" y="2894013"/>
            <a:ext cx="3683000" cy="3578225"/>
            <a:chOff x="3296" y="1823"/>
            <a:chExt cx="2320" cy="2254"/>
          </a:xfrm>
        </p:grpSpPr>
        <p:sp>
          <p:nvSpPr>
            <p:cNvPr id="54" name="Rectangle 5"/>
            <p:cNvSpPr>
              <a:spLocks noChangeArrowheads="1"/>
            </p:cNvSpPr>
            <p:nvPr/>
          </p:nvSpPr>
          <p:spPr bwMode="auto">
            <a:xfrm>
              <a:off x="3296" y="1823"/>
              <a:ext cx="2320" cy="225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55" name="Rectangle 6"/>
            <p:cNvSpPr>
              <a:spLocks noChangeArrowheads="1"/>
            </p:cNvSpPr>
            <p:nvPr/>
          </p:nvSpPr>
          <p:spPr bwMode="auto">
            <a:xfrm>
              <a:off x="3634" y="3203"/>
              <a:ext cx="977" cy="158"/>
            </a:xfrm>
            <a:prstGeom prst="rect">
              <a:avLst/>
            </a:prstGeom>
            <a:solidFill>
              <a:srgbClr val="F4EE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3428" y="1987"/>
              <a:ext cx="754" cy="598"/>
            </a:xfrm>
            <a:prstGeom prst="rect">
              <a:avLst/>
            </a:prstGeom>
            <a:solidFill>
              <a:srgbClr val="33CC3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4858" y="1982"/>
              <a:ext cx="663" cy="1949"/>
            </a:xfrm>
            <a:prstGeom prst="rect">
              <a:avLst/>
            </a:prstGeom>
            <a:solidFill>
              <a:srgbClr val="4E91A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 Box 9"/>
            <p:cNvSpPr txBox="1">
              <a:spLocks noChangeArrowheads="1"/>
            </p:cNvSpPr>
            <p:nvPr/>
          </p:nvSpPr>
          <p:spPr bwMode="auto">
            <a:xfrm>
              <a:off x="4864" y="3781"/>
              <a:ext cx="65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registers</a:t>
              </a:r>
            </a:p>
          </p:txBody>
        </p:sp>
        <p:grpSp>
          <p:nvGrpSpPr>
            <p:cNvPr id="59" name="Group 10"/>
            <p:cNvGrpSpPr>
              <a:grpSpLocks/>
            </p:cNvGrpSpPr>
            <p:nvPr/>
          </p:nvGrpSpPr>
          <p:grpSpPr bwMode="auto">
            <a:xfrm>
              <a:off x="4928" y="2040"/>
              <a:ext cx="516" cy="1695"/>
              <a:chOff x="4410" y="2694"/>
              <a:chExt cx="641" cy="1337"/>
            </a:xfrm>
          </p:grpSpPr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4410" y="2806"/>
                <a:ext cx="641" cy="111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</a:t>
                </a:r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4410" y="2694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R0</a:t>
                </a:r>
              </a:p>
            </p:txBody>
          </p:sp>
          <p:sp>
            <p:nvSpPr>
              <p:cNvPr id="86" name="Rectangle 13"/>
              <p:cNvSpPr>
                <a:spLocks noChangeArrowheads="1"/>
              </p:cNvSpPr>
              <p:nvPr/>
            </p:nvSpPr>
            <p:spPr bwMode="auto">
              <a:xfrm>
                <a:off x="4410" y="3249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R15</a:t>
                </a:r>
              </a:p>
            </p:txBody>
          </p:sp>
          <p:sp>
            <p:nvSpPr>
              <p:cNvPr id="87" name="Rectangle 14"/>
              <p:cNvSpPr>
                <a:spLocks noChangeArrowheads="1"/>
              </p:cNvSpPr>
              <p:nvPr/>
            </p:nvSpPr>
            <p:spPr bwMode="auto">
              <a:xfrm>
                <a:off x="4410" y="2917"/>
                <a:ext cx="641" cy="111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R2</a:t>
                </a:r>
              </a:p>
            </p:txBody>
          </p:sp>
          <p:sp>
            <p:nvSpPr>
              <p:cNvPr id="88" name="Line 15"/>
              <p:cNvSpPr>
                <a:spLocks noChangeShapeType="1"/>
              </p:cNvSpPr>
              <p:nvPr/>
            </p:nvSpPr>
            <p:spPr bwMode="auto">
              <a:xfrm>
                <a:off x="4410" y="2694"/>
                <a:ext cx="0" cy="128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Line 16"/>
              <p:cNvSpPr>
                <a:spLocks noChangeShapeType="1"/>
              </p:cNvSpPr>
              <p:nvPr/>
            </p:nvSpPr>
            <p:spPr bwMode="auto">
              <a:xfrm>
                <a:off x="5051" y="2694"/>
                <a:ext cx="0" cy="128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Line 17"/>
              <p:cNvSpPr>
                <a:spLocks noChangeShapeType="1"/>
              </p:cNvSpPr>
              <p:nvPr/>
            </p:nvSpPr>
            <p:spPr bwMode="auto">
              <a:xfrm>
                <a:off x="4410" y="2694"/>
                <a:ext cx="64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1" name="Group 18"/>
              <p:cNvGrpSpPr>
                <a:grpSpLocks/>
              </p:cNvGrpSpPr>
              <p:nvPr/>
            </p:nvGrpSpPr>
            <p:grpSpPr bwMode="auto">
              <a:xfrm>
                <a:off x="4410" y="3028"/>
                <a:ext cx="641" cy="224"/>
                <a:chOff x="4410" y="3028"/>
                <a:chExt cx="641" cy="224"/>
              </a:xfrm>
            </p:grpSpPr>
            <p:sp>
              <p:nvSpPr>
                <p:cNvPr id="99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0" y="3028"/>
                  <a:ext cx="641" cy="222"/>
                </a:xfrm>
                <a:prstGeom prst="rect">
                  <a:avLst/>
                </a:prstGeom>
                <a:solidFill>
                  <a:srgbClr val="BD3754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Text Box 20"/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62" y="3009"/>
                  <a:ext cx="22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sp>
            <p:nvSpPr>
              <p:cNvPr id="92" name="Rectangle 21"/>
              <p:cNvSpPr>
                <a:spLocks noChangeArrowheads="1"/>
              </p:cNvSpPr>
              <p:nvPr/>
            </p:nvSpPr>
            <p:spPr bwMode="auto">
              <a:xfrm>
                <a:off x="4410" y="3361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R16</a:t>
                </a:r>
              </a:p>
            </p:txBody>
          </p:sp>
          <p:sp>
            <p:nvSpPr>
              <p:cNvPr id="93" name="Rectangle 22"/>
              <p:cNvSpPr>
                <a:spLocks noChangeArrowheads="1"/>
              </p:cNvSpPr>
              <p:nvPr/>
            </p:nvSpPr>
            <p:spPr bwMode="auto">
              <a:xfrm>
                <a:off x="4410" y="3473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R17</a:t>
                </a:r>
              </a:p>
            </p:txBody>
          </p:sp>
          <p:grpSp>
            <p:nvGrpSpPr>
              <p:cNvPr id="94" name="Group 23"/>
              <p:cNvGrpSpPr>
                <a:grpSpLocks/>
              </p:cNvGrpSpPr>
              <p:nvPr/>
            </p:nvGrpSpPr>
            <p:grpSpPr bwMode="auto">
              <a:xfrm>
                <a:off x="4410" y="3586"/>
                <a:ext cx="641" cy="222"/>
                <a:chOff x="4410" y="3028"/>
                <a:chExt cx="641" cy="222"/>
              </a:xfrm>
            </p:grpSpPr>
            <p:sp>
              <p:nvSpPr>
                <p:cNvPr id="97" name="Rectangle 24"/>
                <p:cNvSpPr>
                  <a:spLocks noChangeArrowheads="1"/>
                </p:cNvSpPr>
                <p:nvPr/>
              </p:nvSpPr>
              <p:spPr bwMode="auto">
                <a:xfrm>
                  <a:off x="4410" y="3028"/>
                  <a:ext cx="641" cy="222"/>
                </a:xfrm>
                <a:prstGeom prst="rect">
                  <a:avLst/>
                </a:prstGeom>
                <a:solidFill>
                  <a:srgbClr val="BD3754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Text Box 25"/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62" y="3007"/>
                  <a:ext cx="22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sp>
            <p:nvSpPr>
              <p:cNvPr id="95" name="Rectangle 26"/>
              <p:cNvSpPr>
                <a:spLocks noChangeArrowheads="1"/>
              </p:cNvSpPr>
              <p:nvPr/>
            </p:nvSpPr>
            <p:spPr bwMode="auto">
              <a:xfrm>
                <a:off x="4410" y="3807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R30</a:t>
                </a:r>
              </a:p>
            </p:txBody>
          </p:sp>
          <p:sp>
            <p:nvSpPr>
              <p:cNvPr id="96" name="Rectangle 27"/>
              <p:cNvSpPr>
                <a:spLocks noChangeArrowheads="1"/>
              </p:cNvSpPr>
              <p:nvPr/>
            </p:nvSpPr>
            <p:spPr bwMode="auto">
              <a:xfrm>
                <a:off x="4410" y="3919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R31</a:t>
                </a:r>
              </a:p>
            </p:txBody>
          </p:sp>
        </p:grpSp>
        <p:sp>
          <p:nvSpPr>
            <p:cNvPr id="60" name="Rectangle 29"/>
            <p:cNvSpPr>
              <a:spLocks noChangeArrowheads="1"/>
            </p:cNvSpPr>
            <p:nvPr/>
          </p:nvSpPr>
          <p:spPr bwMode="auto">
            <a:xfrm>
              <a:off x="3411" y="3483"/>
              <a:ext cx="1392" cy="448"/>
            </a:xfrm>
            <a:prstGeom prst="rect">
              <a:avLst/>
            </a:prstGeom>
            <a:solidFill>
              <a:srgbClr val="BA8A44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30"/>
            <p:cNvSpPr>
              <a:spLocks noChangeArrowheads="1"/>
            </p:cNvSpPr>
            <p:nvPr/>
          </p:nvSpPr>
          <p:spPr bwMode="auto">
            <a:xfrm>
              <a:off x="3723" y="3744"/>
              <a:ext cx="809" cy="121"/>
            </a:xfrm>
            <a:prstGeom prst="rect">
              <a:avLst/>
            </a:prstGeom>
            <a:solidFill>
              <a:srgbClr val="E4F39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Instruction Register</a:t>
              </a:r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3439" y="3478"/>
              <a:ext cx="13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Instruction decoder</a:t>
              </a:r>
            </a:p>
          </p:txBody>
        </p:sp>
        <p:sp>
          <p:nvSpPr>
            <p:cNvPr id="63" name="Text Box 33"/>
            <p:cNvSpPr txBox="1">
              <a:spLocks noChangeArrowheads="1"/>
            </p:cNvSpPr>
            <p:nvPr/>
          </p:nvSpPr>
          <p:spPr bwMode="auto">
            <a:xfrm>
              <a:off x="4285" y="2516"/>
              <a:ext cx="11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Rectangle 52"/>
            <p:cNvSpPr>
              <a:spLocks noChangeArrowheads="1"/>
            </p:cNvSpPr>
            <p:nvPr/>
          </p:nvSpPr>
          <p:spPr bwMode="auto">
            <a:xfrm>
              <a:off x="3428" y="2626"/>
              <a:ext cx="1232" cy="164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5" name="Group 53"/>
            <p:cNvGrpSpPr>
              <a:grpSpLocks/>
            </p:cNvGrpSpPr>
            <p:nvPr/>
          </p:nvGrpSpPr>
          <p:grpSpPr bwMode="auto">
            <a:xfrm>
              <a:off x="3402" y="2623"/>
              <a:ext cx="1234" cy="182"/>
              <a:chOff x="3050" y="1265"/>
              <a:chExt cx="1234" cy="182"/>
            </a:xfrm>
          </p:grpSpPr>
          <p:sp>
            <p:nvSpPr>
              <p:cNvPr id="66" name="Text Box 32"/>
              <p:cNvSpPr txBox="1">
                <a:spLocks noChangeArrowheads="1"/>
              </p:cNvSpPr>
              <p:nvPr/>
            </p:nvSpPr>
            <p:spPr bwMode="auto">
              <a:xfrm>
                <a:off x="3050" y="1265"/>
                <a:ext cx="50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SREG:</a:t>
                </a:r>
              </a:p>
            </p:txBody>
          </p:sp>
          <p:grpSp>
            <p:nvGrpSpPr>
              <p:cNvPr id="67" name="Group 34"/>
              <p:cNvGrpSpPr>
                <a:grpSpLocks/>
              </p:cNvGrpSpPr>
              <p:nvPr/>
            </p:nvGrpSpPr>
            <p:grpSpPr bwMode="auto">
              <a:xfrm>
                <a:off x="3421" y="1284"/>
                <a:ext cx="863" cy="163"/>
                <a:chOff x="4122" y="3796"/>
                <a:chExt cx="1027" cy="196"/>
              </a:xfrm>
            </p:grpSpPr>
            <p:sp>
              <p:nvSpPr>
                <p:cNvPr id="68" name="Rectangle 35"/>
                <p:cNvSpPr>
                  <a:spLocks noChangeArrowheads="1"/>
                </p:cNvSpPr>
                <p:nvPr/>
              </p:nvSpPr>
              <p:spPr bwMode="auto">
                <a:xfrm>
                  <a:off x="4143" y="3805"/>
                  <a:ext cx="990" cy="146"/>
                </a:xfrm>
                <a:prstGeom prst="rect">
                  <a:avLst/>
                </a:prstGeom>
                <a:solidFill>
                  <a:srgbClr val="E4F39B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Line 36"/>
                <p:cNvSpPr>
                  <a:spLocks noChangeShapeType="1"/>
                </p:cNvSpPr>
                <p:nvPr/>
              </p:nvSpPr>
              <p:spPr bwMode="auto">
                <a:xfrm>
                  <a:off x="4632" y="3802"/>
                  <a:ext cx="0" cy="1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Line 37"/>
                <p:cNvSpPr>
                  <a:spLocks noChangeShapeType="1"/>
                </p:cNvSpPr>
                <p:nvPr/>
              </p:nvSpPr>
              <p:spPr bwMode="auto">
                <a:xfrm>
                  <a:off x="4382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4507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4256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3" name="Line 40"/>
                <p:cNvSpPr>
                  <a:spLocks noChangeShapeType="1"/>
                </p:cNvSpPr>
                <p:nvPr/>
              </p:nvSpPr>
              <p:spPr bwMode="auto">
                <a:xfrm>
                  <a:off x="5006" y="3803"/>
                  <a:ext cx="0" cy="1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Line 41"/>
                <p:cNvSpPr>
                  <a:spLocks noChangeShapeType="1"/>
                </p:cNvSpPr>
                <p:nvPr/>
              </p:nvSpPr>
              <p:spPr bwMode="auto">
                <a:xfrm>
                  <a:off x="4757" y="3801"/>
                  <a:ext cx="0" cy="1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5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4882" y="3807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122" y="3802"/>
                  <a:ext cx="147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77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233" y="3806"/>
                  <a:ext cx="157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78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355" y="3800"/>
                  <a:ext cx="173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7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482" y="3802"/>
                  <a:ext cx="173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80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603" y="3802"/>
                  <a:ext cx="173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</a:p>
              </p:txBody>
            </p:sp>
            <p:sp>
              <p:nvSpPr>
                <p:cNvPr id="8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732" y="3796"/>
                  <a:ext cx="174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8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988" y="3802"/>
                  <a:ext cx="161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83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857" y="3800"/>
                  <a:ext cx="174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977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4D2228-7217-45EE-ACC2-BF902FC9E8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686800" cy="685800"/>
          </a:xfrm>
        </p:spPr>
        <p:txBody>
          <a:bodyPr/>
          <a:lstStyle/>
          <a:p>
            <a:r>
              <a:rPr lang="en-US" dirty="0"/>
              <a:t>Modeling Finite State Machines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1F307-F8B0-4FD8-BD9A-82808905622A}"/>
              </a:ext>
            </a:extLst>
          </p:cNvPr>
          <p:cNvSpPr txBox="1"/>
          <p:nvPr/>
        </p:nvSpPr>
        <p:spPr>
          <a:xfrm>
            <a:off x="2101671" y="1390471"/>
            <a:ext cx="4331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AVR Memory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2838271"/>
            <a:ext cx="5181600" cy="19389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Two Kinds of Memory Spaces: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Code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Memory</a:t>
            </a:r>
          </a:p>
        </p:txBody>
      </p:sp>
    </p:spTree>
    <p:extLst>
      <p:ext uri="{BB962C8B-B14F-4D97-AF65-F5344CB8AC3E}">
        <p14:creationId xmlns:p14="http://schemas.microsoft.com/office/powerpoint/2010/main" val="45119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Data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125018"/>
              </p:ext>
            </p:extLst>
          </p:nvPr>
        </p:nvGraphicFramePr>
        <p:xfrm>
          <a:off x="228600" y="1360487"/>
          <a:ext cx="8750300" cy="481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60341" imgH="3085795" progId="Visio.Drawing.11">
                  <p:embed/>
                </p:oleObj>
              </mc:Choice>
              <mc:Fallback>
                <p:oleObj name="Visio" r:id="rId2" imgW="4860341" imgH="308579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60487"/>
                        <a:ext cx="8750300" cy="481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070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AVR Data Memory: Data Memory Space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828800"/>
            <a:ext cx="784860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1948036"/>
            <a:ext cx="2743200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Data memory composed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GPRs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I/O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Internal data SRAM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463308"/>
              </p:ext>
            </p:extLst>
          </p:nvPr>
        </p:nvGraphicFramePr>
        <p:xfrm>
          <a:off x="-63500" y="3962400"/>
          <a:ext cx="5016500" cy="275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60341" imgH="3085795" progId="Visio.Drawing.11">
                  <p:embed/>
                </p:oleObj>
              </mc:Choice>
              <mc:Fallback>
                <p:oleObj name="Visio" r:id="rId2" imgW="4860341" imgH="308579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3500" y="3962400"/>
                        <a:ext cx="5016500" cy="275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838200"/>
            <a:ext cx="4419600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743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Address Space</a:t>
            </a:r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35156"/>
              </p:ext>
            </p:extLst>
          </p:nvPr>
        </p:nvGraphicFramePr>
        <p:xfrm>
          <a:off x="-228600" y="914400"/>
          <a:ext cx="7010400" cy="585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675916" imgH="4189099" progId="Visio.Drawing.11">
                  <p:embed/>
                </p:oleObj>
              </mc:Choice>
              <mc:Fallback>
                <p:oleObj name="Visio" r:id="rId3" imgW="4675916" imgH="41890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8600" y="914400"/>
                        <a:ext cx="7010400" cy="5858920"/>
                      </a:xfrm>
                      <a:prstGeom prst="rect">
                        <a:avLst/>
                      </a:prstGeom>
                      <a:noFill/>
                      <a:ln w="9525" algn="ctr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6477000" y="3048000"/>
            <a:ext cx="2743200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Data memory composed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GPRs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I/O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Internal data SRAM </a:t>
            </a:r>
          </a:p>
        </p:txBody>
      </p:sp>
    </p:spTree>
    <p:extLst>
      <p:ext uri="{BB962C8B-B14F-4D97-AF65-F5344CB8AC3E}">
        <p14:creationId xmlns:p14="http://schemas.microsoft.com/office/powerpoint/2010/main" val="86148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Data Memory Space: GPRs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GPRs:</a:t>
            </a:r>
          </a:p>
          <a:p>
            <a:pPr lvl="1"/>
            <a:r>
              <a:rPr lang="en-US" dirty="0"/>
              <a:t>Take 32 </a:t>
            </a:r>
            <a:r>
              <a:rPr lang="en-US" dirty="0">
                <a:solidFill>
                  <a:srgbClr val="C00000"/>
                </a:solidFill>
              </a:rPr>
              <a:t>bytes</a:t>
            </a:r>
            <a:r>
              <a:rPr lang="en-US" dirty="0"/>
              <a:t> of data memory</a:t>
            </a:r>
          </a:p>
          <a:p>
            <a:pPr lvl="1"/>
            <a:r>
              <a:rPr lang="en-US" dirty="0"/>
              <a:t>Address location </a:t>
            </a:r>
            <a:r>
              <a:rPr lang="en-US" dirty="0">
                <a:solidFill>
                  <a:srgbClr val="C00000"/>
                </a:solidFill>
              </a:rPr>
              <a:t>$00 - $1F </a:t>
            </a:r>
            <a:r>
              <a:rPr lang="en-US" dirty="0"/>
              <a:t>(always)</a:t>
            </a:r>
          </a:p>
        </p:txBody>
      </p:sp>
      <p:pic>
        <p:nvPicPr>
          <p:cNvPr id="5" name="Content Placeholder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11"/>
          <a:stretch/>
        </p:blipFill>
        <p:spPr bwMode="auto">
          <a:xfrm>
            <a:off x="228600" y="2895600"/>
            <a:ext cx="8686800" cy="2640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05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Data Memory Space: I/O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I/O Memory (SFR):</a:t>
            </a:r>
          </a:p>
          <a:p>
            <a:pPr lvl="2"/>
            <a:r>
              <a:rPr lang="en-US" dirty="0"/>
              <a:t>Dedicated to specific functions such as:</a:t>
            </a:r>
          </a:p>
          <a:p>
            <a:pPr lvl="3"/>
            <a:r>
              <a:rPr lang="en-US" dirty="0"/>
              <a:t>Status register</a:t>
            </a:r>
          </a:p>
          <a:p>
            <a:pPr lvl="3"/>
            <a:r>
              <a:rPr lang="en-US" dirty="0"/>
              <a:t>Timers</a:t>
            </a:r>
          </a:p>
          <a:p>
            <a:pPr lvl="3"/>
            <a:r>
              <a:rPr lang="en-US" dirty="0"/>
              <a:t>Serial communication etc.</a:t>
            </a:r>
          </a:p>
          <a:p>
            <a:pPr lvl="2"/>
            <a:r>
              <a:rPr lang="en-US" dirty="0"/>
              <a:t>I/O Memory locations depend on the number of pins and peripheral functions supported by a device</a:t>
            </a:r>
          </a:p>
          <a:p>
            <a:pPr lvl="3"/>
            <a:r>
              <a:rPr lang="en-US" dirty="0"/>
              <a:t>At least all the families have 64 bytes</a:t>
            </a:r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11"/>
          <a:stretch/>
        </p:blipFill>
        <p:spPr bwMode="auto">
          <a:xfrm>
            <a:off x="228600" y="3809999"/>
            <a:ext cx="8686800" cy="2640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85758" y="3627607"/>
            <a:ext cx="145264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I/O Registers</a:t>
            </a:r>
          </a:p>
        </p:txBody>
      </p:sp>
    </p:spTree>
    <p:extLst>
      <p:ext uri="{BB962C8B-B14F-4D97-AF65-F5344CB8AC3E}">
        <p14:creationId xmlns:p14="http://schemas.microsoft.com/office/powerpoint/2010/main" val="169352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Data Memory Space: I/O Memory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277" y="914400"/>
            <a:ext cx="721744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1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Data Memory Space: Internal SRAM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SRAM:</a:t>
            </a:r>
          </a:p>
          <a:p>
            <a:pPr lvl="1"/>
            <a:r>
              <a:rPr lang="en-US" dirty="0"/>
              <a:t>aka </a:t>
            </a:r>
            <a:r>
              <a:rPr lang="en-US" b="1" i="1" dirty="0"/>
              <a:t>Scratch Pad </a:t>
            </a:r>
            <a:r>
              <a:rPr lang="en-US" dirty="0"/>
              <a:t>memory</a:t>
            </a:r>
          </a:p>
          <a:p>
            <a:pPr lvl="2"/>
            <a:r>
              <a:rPr lang="en-US" dirty="0"/>
              <a:t>Used for storing data and parameters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07951"/>
            <a:ext cx="3126581" cy="423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4790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Address Space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957513" y="979488"/>
          <a:ext cx="6013450" cy="330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60341" imgH="3085795" progId="Visio.Drawing.11">
                  <p:embed/>
                </p:oleObj>
              </mc:Choice>
              <mc:Fallback>
                <p:oleObj name="Visio" r:id="rId3" imgW="4860341" imgH="30857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979488"/>
                        <a:ext cx="6013450" cy="330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0" y="3043238"/>
          <a:ext cx="4165600" cy="348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675916" imgH="4189099" progId="Visio.Drawing.11">
                  <p:embed/>
                </p:oleObj>
              </mc:Choice>
              <mc:Fallback>
                <p:oleObj name="Visio" r:id="rId5" imgW="4675916" imgH="41890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3238"/>
                        <a:ext cx="4165600" cy="3481387"/>
                      </a:xfrm>
                      <a:prstGeom prst="rect">
                        <a:avLst/>
                      </a:prstGeom>
                      <a:noFill/>
                      <a:ln w="9525" algn="ctr">
                        <a:solidFill>
                          <a:srgbClr val="33CC33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4937125" y="1908175"/>
          <a:ext cx="4048125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364078" imgH="1500226" progId="Visio.Drawing.11">
                  <p:embed/>
                </p:oleObj>
              </mc:Choice>
              <mc:Fallback>
                <p:oleObj name="Visio" r:id="rId7" imgW="3364078" imgH="150022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25" y="1908175"/>
                        <a:ext cx="4048125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3" name="Group 13"/>
          <p:cNvGrpSpPr>
            <a:grpSpLocks/>
          </p:cNvGrpSpPr>
          <p:nvPr/>
        </p:nvGrpSpPr>
        <p:grpSpPr bwMode="auto">
          <a:xfrm>
            <a:off x="3898900" y="4279900"/>
            <a:ext cx="4241800" cy="2019300"/>
            <a:chOff x="2376" y="2760"/>
            <a:chExt cx="2672" cy="1232"/>
          </a:xfrm>
        </p:grpSpPr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2376" y="2760"/>
              <a:ext cx="2672" cy="1232"/>
            </a:xfrm>
            <a:prstGeom prst="rect">
              <a:avLst/>
            </a:prstGeom>
            <a:solidFill>
              <a:srgbClr val="E4F3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609" name="Text Box 9"/>
            <p:cNvSpPr txBox="1">
              <a:spLocks noChangeArrowheads="1"/>
            </p:cNvSpPr>
            <p:nvPr/>
          </p:nvSpPr>
          <p:spPr bwMode="auto">
            <a:xfrm>
              <a:off x="2512" y="3008"/>
              <a:ext cx="2152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LDS  Rd, addr      ;Rd = [addr]</a:t>
              </a:r>
            </a:p>
          </p:txBody>
        </p:sp>
        <p:sp>
          <p:nvSpPr>
            <p:cNvPr id="25610" name="Text Box 10"/>
            <p:cNvSpPr txBox="1">
              <a:spLocks noChangeArrowheads="1"/>
            </p:cNvSpPr>
            <p:nvPr/>
          </p:nvSpPr>
          <p:spPr bwMode="auto">
            <a:xfrm>
              <a:off x="2528" y="3352"/>
              <a:ext cx="2272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Example: </a:t>
              </a:r>
            </a:p>
            <a:p>
              <a:pPr>
                <a:spcBef>
                  <a:spcPct val="50000"/>
                </a:spcBef>
              </a:pPr>
              <a:r>
                <a:rPr lang="en-US"/>
                <a:t>    LDS  R1, 0x60</a:t>
              </a:r>
            </a:p>
          </p:txBody>
        </p:sp>
        <p:sp>
          <p:nvSpPr>
            <p:cNvPr id="25611" name="Text Box 11"/>
            <p:cNvSpPr txBox="1">
              <a:spLocks noChangeArrowheads="1"/>
            </p:cNvSpPr>
            <p:nvPr/>
          </p:nvSpPr>
          <p:spPr bwMode="auto">
            <a:xfrm>
              <a:off x="2376" y="2760"/>
              <a:ext cx="2664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 i="1"/>
                <a:t>LDS (Load direct from data space)</a:t>
              </a:r>
            </a:p>
          </p:txBody>
        </p:sp>
        <p:sp>
          <p:nvSpPr>
            <p:cNvPr id="25612" name="Line 12"/>
            <p:cNvSpPr>
              <a:spLocks noChangeShapeType="1"/>
            </p:cNvSpPr>
            <p:nvPr/>
          </p:nvSpPr>
          <p:spPr bwMode="auto">
            <a:xfrm>
              <a:off x="2376" y="2992"/>
              <a:ext cx="2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0" name="Group 20"/>
          <p:cNvGrpSpPr>
            <a:grpSpLocks/>
          </p:cNvGrpSpPr>
          <p:nvPr/>
        </p:nvGrpSpPr>
        <p:grpSpPr bwMode="auto">
          <a:xfrm>
            <a:off x="3911600" y="4292600"/>
            <a:ext cx="4241800" cy="1993900"/>
            <a:chOff x="2424" y="4088"/>
            <a:chExt cx="2672" cy="1232"/>
          </a:xfrm>
        </p:grpSpPr>
        <p:sp>
          <p:nvSpPr>
            <p:cNvPr id="25615" name="Rectangle 15"/>
            <p:cNvSpPr>
              <a:spLocks noChangeArrowheads="1"/>
            </p:cNvSpPr>
            <p:nvPr/>
          </p:nvSpPr>
          <p:spPr bwMode="auto">
            <a:xfrm>
              <a:off x="2424" y="4088"/>
              <a:ext cx="2672" cy="1232"/>
            </a:xfrm>
            <a:prstGeom prst="rect">
              <a:avLst/>
            </a:prstGeom>
            <a:solidFill>
              <a:srgbClr val="E4F3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616" name="Text Box 16"/>
            <p:cNvSpPr txBox="1">
              <a:spLocks noChangeArrowheads="1"/>
            </p:cNvSpPr>
            <p:nvPr/>
          </p:nvSpPr>
          <p:spPr bwMode="auto">
            <a:xfrm>
              <a:off x="2560" y="4336"/>
              <a:ext cx="2152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STS  addr,Rd      ;[addr]=Rd</a:t>
              </a:r>
            </a:p>
          </p:txBody>
        </p:sp>
        <p:sp>
          <p:nvSpPr>
            <p:cNvPr id="25617" name="Text Box 17"/>
            <p:cNvSpPr txBox="1">
              <a:spLocks noChangeArrowheads="1"/>
            </p:cNvSpPr>
            <p:nvPr/>
          </p:nvSpPr>
          <p:spPr bwMode="auto">
            <a:xfrm>
              <a:off x="2576" y="4680"/>
              <a:ext cx="2360" cy="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Example: </a:t>
              </a:r>
            </a:p>
            <a:p>
              <a:pPr>
                <a:spcBef>
                  <a:spcPct val="50000"/>
                </a:spcBef>
              </a:pPr>
              <a:r>
                <a:rPr lang="en-US"/>
                <a:t>    STS  0x60,R15	    ; [0x60] = R15</a:t>
              </a:r>
            </a:p>
          </p:txBody>
        </p:sp>
        <p:sp>
          <p:nvSpPr>
            <p:cNvPr id="25618" name="Text Box 18"/>
            <p:cNvSpPr txBox="1">
              <a:spLocks noChangeArrowheads="1"/>
            </p:cNvSpPr>
            <p:nvPr/>
          </p:nvSpPr>
          <p:spPr bwMode="auto">
            <a:xfrm>
              <a:off x="2424" y="4088"/>
              <a:ext cx="2664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 i="1"/>
                <a:t>STS (Store direct to data space)</a:t>
              </a:r>
            </a:p>
          </p:txBody>
        </p:sp>
        <p:sp>
          <p:nvSpPr>
            <p:cNvPr id="25619" name="Line 19"/>
            <p:cNvSpPr>
              <a:spLocks noChangeShapeType="1"/>
            </p:cNvSpPr>
            <p:nvPr/>
          </p:nvSpPr>
          <p:spPr bwMode="auto">
            <a:xfrm>
              <a:off x="2424" y="4320"/>
              <a:ext cx="2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8" name="Group 28"/>
          <p:cNvGrpSpPr>
            <a:grpSpLocks/>
          </p:cNvGrpSpPr>
          <p:nvPr/>
        </p:nvGrpSpPr>
        <p:grpSpPr bwMode="auto">
          <a:xfrm>
            <a:off x="2082800" y="4330700"/>
            <a:ext cx="6896100" cy="1993900"/>
            <a:chOff x="1312" y="2728"/>
            <a:chExt cx="4344" cy="1256"/>
          </a:xfrm>
        </p:grpSpPr>
        <p:sp>
          <p:nvSpPr>
            <p:cNvPr id="25622" name="Rectangle 22"/>
            <p:cNvSpPr>
              <a:spLocks noChangeArrowheads="1"/>
            </p:cNvSpPr>
            <p:nvPr/>
          </p:nvSpPr>
          <p:spPr bwMode="auto">
            <a:xfrm>
              <a:off x="1312" y="2728"/>
              <a:ext cx="4344" cy="1256"/>
            </a:xfrm>
            <a:prstGeom prst="rect">
              <a:avLst/>
            </a:prstGeom>
            <a:solidFill>
              <a:srgbClr val="E4F39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25627" name="Group 27"/>
            <p:cNvGrpSpPr>
              <a:grpSpLocks/>
            </p:cNvGrpSpPr>
            <p:nvPr/>
          </p:nvGrpSpPr>
          <p:grpSpPr bwMode="auto">
            <a:xfrm>
              <a:off x="1312" y="2728"/>
              <a:ext cx="4344" cy="238"/>
              <a:chOff x="1224" y="3280"/>
              <a:chExt cx="4344" cy="238"/>
            </a:xfrm>
          </p:grpSpPr>
          <p:sp>
            <p:nvSpPr>
              <p:cNvPr id="25625" name="Text Box 25"/>
              <p:cNvSpPr txBox="1">
                <a:spLocks noChangeArrowheads="1"/>
              </p:cNvSpPr>
              <p:nvPr/>
            </p:nvSpPr>
            <p:spPr bwMode="auto">
              <a:xfrm>
                <a:off x="1224" y="3280"/>
                <a:ext cx="43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b="1" i="1"/>
                  <a:t>Example: Write a program that stores 55 into location 0x80 of RAM.</a:t>
                </a:r>
              </a:p>
            </p:txBody>
          </p:sp>
          <p:sp>
            <p:nvSpPr>
              <p:cNvPr id="25626" name="Line 26"/>
              <p:cNvSpPr>
                <a:spLocks noChangeShapeType="1"/>
              </p:cNvSpPr>
              <p:nvPr/>
            </p:nvSpPr>
            <p:spPr bwMode="auto">
              <a:xfrm>
                <a:off x="1224" y="3517"/>
                <a:ext cx="434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2312988" y="4976813"/>
            <a:ext cx="6370637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Solution: 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LDI  R20, 55	   ;R20 = 55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STS  0x80, R20  ;[0x80] = R20 = 55</a:t>
            </a:r>
          </a:p>
        </p:txBody>
      </p:sp>
      <p:grpSp>
        <p:nvGrpSpPr>
          <p:cNvPr id="25635" name="Group 35"/>
          <p:cNvGrpSpPr>
            <a:grpSpLocks/>
          </p:cNvGrpSpPr>
          <p:nvPr/>
        </p:nvGrpSpPr>
        <p:grpSpPr bwMode="auto">
          <a:xfrm>
            <a:off x="2044700" y="4386263"/>
            <a:ext cx="6921500" cy="2055812"/>
            <a:chOff x="1136" y="4137"/>
            <a:chExt cx="4360" cy="1295"/>
          </a:xfrm>
        </p:grpSpPr>
        <p:sp>
          <p:nvSpPr>
            <p:cNvPr id="25630" name="Rectangle 30"/>
            <p:cNvSpPr>
              <a:spLocks noChangeArrowheads="1"/>
            </p:cNvSpPr>
            <p:nvPr/>
          </p:nvSpPr>
          <p:spPr bwMode="auto">
            <a:xfrm>
              <a:off x="1152" y="4176"/>
              <a:ext cx="4344" cy="1256"/>
            </a:xfrm>
            <a:prstGeom prst="rect">
              <a:avLst/>
            </a:prstGeom>
            <a:solidFill>
              <a:srgbClr val="E4F39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632" name="Text Box 32"/>
            <p:cNvSpPr txBox="1">
              <a:spLocks noChangeArrowheads="1"/>
            </p:cNvSpPr>
            <p:nvPr/>
          </p:nvSpPr>
          <p:spPr bwMode="auto">
            <a:xfrm>
              <a:off x="1136" y="4137"/>
              <a:ext cx="433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/>
                <a:t>Example: Write a program that copies the contents of location 0x80 of RAM into location 0x81.</a:t>
              </a:r>
            </a:p>
          </p:txBody>
        </p:sp>
        <p:sp>
          <p:nvSpPr>
            <p:cNvPr id="25633" name="Line 33"/>
            <p:cNvSpPr>
              <a:spLocks noChangeShapeType="1"/>
            </p:cNvSpPr>
            <p:nvPr/>
          </p:nvSpPr>
          <p:spPr bwMode="auto">
            <a:xfrm>
              <a:off x="1136" y="4488"/>
              <a:ext cx="43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34" name="Text Box 34"/>
          <p:cNvSpPr txBox="1">
            <a:spLocks noChangeArrowheads="1"/>
          </p:cNvSpPr>
          <p:nvPr/>
        </p:nvSpPr>
        <p:spPr bwMode="auto">
          <a:xfrm>
            <a:off x="2328863" y="5310188"/>
            <a:ext cx="6370637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Solution: 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LDS  R20, 0x80	;R20 = [0x80]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STS  0x81, R20  	;[0x81] = R20 = [0x80]</a:t>
            </a:r>
          </a:p>
        </p:txBody>
      </p:sp>
      <p:grpSp>
        <p:nvGrpSpPr>
          <p:cNvPr id="25641" name="Group 41"/>
          <p:cNvGrpSpPr>
            <a:grpSpLocks/>
          </p:cNvGrpSpPr>
          <p:nvPr/>
        </p:nvGrpSpPr>
        <p:grpSpPr bwMode="auto">
          <a:xfrm>
            <a:off x="2057400" y="3900488"/>
            <a:ext cx="6921500" cy="2498725"/>
            <a:chOff x="360" y="4369"/>
            <a:chExt cx="4360" cy="1574"/>
          </a:xfrm>
        </p:grpSpPr>
        <p:sp>
          <p:nvSpPr>
            <p:cNvPr id="25637" name="Rectangle 37"/>
            <p:cNvSpPr>
              <a:spLocks noChangeArrowheads="1"/>
            </p:cNvSpPr>
            <p:nvPr/>
          </p:nvSpPr>
          <p:spPr bwMode="auto">
            <a:xfrm>
              <a:off x="376" y="4369"/>
              <a:ext cx="4344" cy="1574"/>
            </a:xfrm>
            <a:prstGeom prst="rect">
              <a:avLst/>
            </a:prstGeom>
            <a:solidFill>
              <a:srgbClr val="E4F39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638" name="Text Box 38"/>
            <p:cNvSpPr txBox="1">
              <a:spLocks noChangeArrowheads="1"/>
            </p:cNvSpPr>
            <p:nvPr/>
          </p:nvSpPr>
          <p:spPr bwMode="auto">
            <a:xfrm>
              <a:off x="360" y="4416"/>
              <a:ext cx="433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/>
                <a:t>Example: Add contents of location 0x90 to contents of location 0x95 and store the result in location 0x313.</a:t>
              </a:r>
            </a:p>
          </p:txBody>
        </p:sp>
        <p:sp>
          <p:nvSpPr>
            <p:cNvPr id="25639" name="Line 39"/>
            <p:cNvSpPr>
              <a:spLocks noChangeShapeType="1"/>
            </p:cNvSpPr>
            <p:nvPr/>
          </p:nvSpPr>
          <p:spPr bwMode="auto">
            <a:xfrm>
              <a:off x="360" y="4760"/>
              <a:ext cx="43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40" name="Text Box 40"/>
          <p:cNvSpPr txBox="1">
            <a:spLocks noChangeArrowheads="1"/>
          </p:cNvSpPr>
          <p:nvPr/>
        </p:nvSpPr>
        <p:spPr bwMode="auto">
          <a:xfrm>
            <a:off x="2341563" y="4568825"/>
            <a:ext cx="6370637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Solution: 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LDS  R20, 0x90	;R20 = [0x90]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LDS  R21, 0x95	;R21 = [0x95]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ADD  R20, R21		;R20 = R20 + R21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STS  0x313, R20  	;[0x313] = R20</a:t>
            </a:r>
          </a:p>
        </p:txBody>
      </p:sp>
      <p:grpSp>
        <p:nvGrpSpPr>
          <p:cNvPr id="25646" name="Group 46"/>
          <p:cNvGrpSpPr>
            <a:grpSpLocks/>
          </p:cNvGrpSpPr>
          <p:nvPr/>
        </p:nvGrpSpPr>
        <p:grpSpPr bwMode="auto">
          <a:xfrm>
            <a:off x="2057400" y="4208463"/>
            <a:ext cx="6921500" cy="1903412"/>
            <a:chOff x="1160" y="4107"/>
            <a:chExt cx="4360" cy="1199"/>
          </a:xfrm>
        </p:grpSpPr>
        <p:sp>
          <p:nvSpPr>
            <p:cNvPr id="25643" name="Rectangle 43"/>
            <p:cNvSpPr>
              <a:spLocks noChangeArrowheads="1"/>
            </p:cNvSpPr>
            <p:nvPr/>
          </p:nvSpPr>
          <p:spPr bwMode="auto">
            <a:xfrm>
              <a:off x="1176" y="4153"/>
              <a:ext cx="4344" cy="1153"/>
            </a:xfrm>
            <a:prstGeom prst="rect">
              <a:avLst/>
            </a:prstGeom>
            <a:solidFill>
              <a:srgbClr val="E4F39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644" name="Text Box 44"/>
            <p:cNvSpPr txBox="1">
              <a:spLocks noChangeArrowheads="1"/>
            </p:cNvSpPr>
            <p:nvPr/>
          </p:nvSpPr>
          <p:spPr bwMode="auto">
            <a:xfrm>
              <a:off x="1160" y="4107"/>
              <a:ext cx="4332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/>
                <a:t>Example: What does the following instruction do?</a:t>
              </a:r>
            </a:p>
            <a:p>
              <a:pPr>
                <a:spcBef>
                  <a:spcPct val="50000"/>
                </a:spcBef>
              </a:pPr>
              <a:r>
                <a:rPr lang="en-US" sz="1600" b="1" i="1"/>
                <a:t>    </a:t>
              </a:r>
              <a:r>
                <a:rPr lang="en-US" sz="1600" b="1" i="1">
                  <a:latin typeface="Courier New" panose="02070309020205020404" pitchFamily="49" charset="0"/>
                  <a:cs typeface="Courier New" panose="02070309020205020404" pitchFamily="49" charset="0"/>
                </a:rPr>
                <a:t>LDS  R20,2</a:t>
              </a:r>
            </a:p>
          </p:txBody>
        </p:sp>
        <p:sp>
          <p:nvSpPr>
            <p:cNvPr id="25645" name="Line 45"/>
            <p:cNvSpPr>
              <a:spLocks noChangeShapeType="1"/>
            </p:cNvSpPr>
            <p:nvPr/>
          </p:nvSpPr>
          <p:spPr bwMode="auto">
            <a:xfrm>
              <a:off x="1160" y="4517"/>
              <a:ext cx="43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47" name="Text Box 47"/>
          <p:cNvSpPr txBox="1">
            <a:spLocks noChangeArrowheads="1"/>
          </p:cNvSpPr>
          <p:nvPr/>
        </p:nvSpPr>
        <p:spPr bwMode="auto">
          <a:xfrm>
            <a:off x="2159000" y="5041900"/>
            <a:ext cx="67183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Answer:</a:t>
            </a:r>
          </a:p>
          <a:p>
            <a:pPr>
              <a:spcBef>
                <a:spcPct val="50000"/>
              </a:spcBef>
            </a:pPr>
            <a:r>
              <a:rPr lang="en-US"/>
              <a:t>  It copies the contents of R2 into R20; as 2 is the address of R2.</a:t>
            </a:r>
          </a:p>
        </p:txBody>
      </p:sp>
      <p:sp>
        <p:nvSpPr>
          <p:cNvPr id="25652" name="Text Box 52"/>
          <p:cNvSpPr txBox="1">
            <a:spLocks noChangeArrowheads="1"/>
          </p:cNvSpPr>
          <p:nvPr/>
        </p:nvSpPr>
        <p:spPr bwMode="auto">
          <a:xfrm>
            <a:off x="4305300" y="4851400"/>
            <a:ext cx="4495800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Solution:</a:t>
            </a:r>
          </a:p>
          <a:p>
            <a:pPr>
              <a:spcBef>
                <a:spcPct val="50000"/>
              </a:spcBef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LDI	R20, 0x53	;R20 = 0x53</a:t>
            </a:r>
          </a:p>
          <a:p>
            <a:pPr>
              <a:spcBef>
                <a:spcPct val="50000"/>
              </a:spcBef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STS	0x5E, R20	;SPH = R20</a:t>
            </a:r>
          </a:p>
        </p:txBody>
      </p:sp>
      <p:grpSp>
        <p:nvGrpSpPr>
          <p:cNvPr id="25659" name="Group 59"/>
          <p:cNvGrpSpPr>
            <a:grpSpLocks/>
          </p:cNvGrpSpPr>
          <p:nvPr/>
        </p:nvGrpSpPr>
        <p:grpSpPr bwMode="auto">
          <a:xfrm>
            <a:off x="161925" y="862013"/>
            <a:ext cx="4911725" cy="3441700"/>
            <a:chOff x="5832" y="591"/>
            <a:chExt cx="3094" cy="2168"/>
          </a:xfrm>
        </p:grpSpPr>
        <p:sp>
          <p:nvSpPr>
            <p:cNvPr id="25655" name="Rectangle 55"/>
            <p:cNvSpPr>
              <a:spLocks noChangeArrowheads="1"/>
            </p:cNvSpPr>
            <p:nvPr/>
          </p:nvSpPr>
          <p:spPr bwMode="auto">
            <a:xfrm>
              <a:off x="5832" y="591"/>
              <a:ext cx="3094" cy="2168"/>
            </a:xfrm>
            <a:prstGeom prst="rect">
              <a:avLst/>
            </a:prstGeom>
            <a:solidFill>
              <a:srgbClr val="F3F8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5657" name="Object 57"/>
            <p:cNvGraphicFramePr>
              <a:graphicFrameLocks noChangeAspect="1"/>
            </p:cNvGraphicFramePr>
            <p:nvPr/>
          </p:nvGraphicFramePr>
          <p:xfrm>
            <a:off x="5874" y="639"/>
            <a:ext cx="2974" cy="2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4759328" imgH="3339078" progId="Visio.Drawing.11">
                    <p:embed/>
                  </p:oleObj>
                </mc:Choice>
                <mc:Fallback>
                  <p:oleObj name="Visio" r:id="rId9" imgW="4759328" imgH="3339078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4" y="639"/>
                          <a:ext cx="2974" cy="20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ap="flat" cmpd="sng" algn="ctr">
                              <a:solidFill>
                                <a:schemeClr val="tx1"/>
                              </a:solidFill>
                              <a:prstDash val="solid"/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53" name="Group 53"/>
          <p:cNvGrpSpPr>
            <a:grpSpLocks/>
          </p:cNvGrpSpPr>
          <p:nvPr/>
        </p:nvGrpSpPr>
        <p:grpSpPr bwMode="auto">
          <a:xfrm>
            <a:off x="4254500" y="3976688"/>
            <a:ext cx="4622800" cy="2498725"/>
            <a:chOff x="1280" y="4161"/>
            <a:chExt cx="4360" cy="1574"/>
          </a:xfrm>
        </p:grpSpPr>
        <p:sp>
          <p:nvSpPr>
            <p:cNvPr id="25649" name="Rectangle 49"/>
            <p:cNvSpPr>
              <a:spLocks noChangeArrowheads="1"/>
            </p:cNvSpPr>
            <p:nvPr/>
          </p:nvSpPr>
          <p:spPr bwMode="auto">
            <a:xfrm>
              <a:off x="1296" y="4161"/>
              <a:ext cx="4344" cy="1574"/>
            </a:xfrm>
            <a:prstGeom prst="rect">
              <a:avLst/>
            </a:prstGeom>
            <a:solidFill>
              <a:srgbClr val="E4F39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650" name="Text Box 50"/>
            <p:cNvSpPr txBox="1">
              <a:spLocks noChangeArrowheads="1"/>
            </p:cNvSpPr>
            <p:nvPr/>
          </p:nvSpPr>
          <p:spPr bwMode="auto">
            <a:xfrm>
              <a:off x="1280" y="4208"/>
              <a:ext cx="433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 dirty="0"/>
                <a:t>Example: Store 0x53 into the SPH register. The address of SPH is 0x5E</a:t>
              </a:r>
            </a:p>
          </p:txBody>
        </p:sp>
        <p:sp>
          <p:nvSpPr>
            <p:cNvPr id="25651" name="Line 51"/>
            <p:cNvSpPr>
              <a:spLocks noChangeShapeType="1"/>
            </p:cNvSpPr>
            <p:nvPr/>
          </p:nvSpPr>
          <p:spPr bwMode="auto">
            <a:xfrm>
              <a:off x="1296" y="4552"/>
              <a:ext cx="43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143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5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5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5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25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5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5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5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5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5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25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25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25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25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4" grpId="0"/>
      <p:bldP spid="25624" grpId="1"/>
      <p:bldP spid="25634" grpId="0"/>
      <p:bldP spid="25634" grpId="1"/>
      <p:bldP spid="25640" grpId="0"/>
      <p:bldP spid="25640" grpId="1"/>
      <p:bldP spid="25647" grpId="0"/>
      <p:bldP spid="2564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0A22-44A8-0DBF-4FA6-62ACBD58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44966E3D-5E3B-1590-F16B-9C34CC2F1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209800"/>
            <a:ext cx="44958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Solution: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LDS	R20, 0x53	;R20 = 0x53</a:t>
            </a:r>
          </a:p>
          <a:p>
            <a:pPr eaLnBrk="1" hangingPunct="1">
              <a:spcBef>
                <a:spcPct val="50000"/>
              </a:spcBef>
            </a:pPr>
            <a:r>
              <a:rPr 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STS	0x5E, R20	;SPH = R20</a:t>
            </a:r>
          </a:p>
        </p:txBody>
      </p:sp>
    </p:spTree>
    <p:extLst>
      <p:ext uri="{BB962C8B-B14F-4D97-AF65-F5344CB8AC3E}">
        <p14:creationId xmlns:p14="http://schemas.microsoft.com/office/powerpoint/2010/main" val="288981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736" name="Object 64"/>
          <p:cNvGraphicFramePr>
            <a:graphicFrameLocks noGrp="1" noChangeAspect="1"/>
          </p:cNvGraphicFramePr>
          <p:nvPr>
            <p:ph idx="1"/>
          </p:nvPr>
        </p:nvGraphicFramePr>
        <p:xfrm>
          <a:off x="0" y="2884488"/>
          <a:ext cx="4048125" cy="362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675916" imgH="4189099" progId="Visio.Drawing.11">
                  <p:embed/>
                </p:oleObj>
              </mc:Choice>
              <mc:Fallback>
                <p:oleObj name="Visio" r:id="rId3" imgW="4675916" imgH="41890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84488"/>
                        <a:ext cx="4048125" cy="3627437"/>
                      </a:xfrm>
                      <a:prstGeom prst="rect">
                        <a:avLst/>
                      </a:prstGeom>
                      <a:noFill/>
                      <a:ln w="9525" algn="ctr">
                        <a:solidFill>
                          <a:srgbClr val="33CC33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Address Space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957513" y="979488"/>
          <a:ext cx="6013450" cy="330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860341" imgH="3085795" progId="Visio.Drawing.11">
                  <p:embed/>
                </p:oleObj>
              </mc:Choice>
              <mc:Fallback>
                <p:oleObj name="Visio" r:id="rId5" imgW="4860341" imgH="30857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979488"/>
                        <a:ext cx="6013450" cy="330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3008313" y="3079750"/>
          <a:ext cx="4048125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364078" imgH="1500226" progId="Visio.Drawing.11">
                  <p:embed/>
                </p:oleObj>
              </mc:Choice>
              <mc:Fallback>
                <p:oleObj name="Visio" r:id="rId7" imgW="3364078" imgH="150022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3079750"/>
                        <a:ext cx="4048125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9" name="Group 7"/>
          <p:cNvGrpSpPr>
            <a:grpSpLocks/>
          </p:cNvGrpSpPr>
          <p:nvPr/>
        </p:nvGrpSpPr>
        <p:grpSpPr bwMode="auto">
          <a:xfrm>
            <a:off x="4368800" y="3556000"/>
            <a:ext cx="4241800" cy="2732088"/>
            <a:chOff x="2376" y="2760"/>
            <a:chExt cx="2672" cy="1232"/>
          </a:xfrm>
        </p:grpSpPr>
        <p:sp>
          <p:nvSpPr>
            <p:cNvPr id="28680" name="Rectangle 8"/>
            <p:cNvSpPr>
              <a:spLocks noChangeArrowheads="1"/>
            </p:cNvSpPr>
            <p:nvPr/>
          </p:nvSpPr>
          <p:spPr bwMode="auto">
            <a:xfrm>
              <a:off x="2376" y="2760"/>
              <a:ext cx="2672" cy="1232"/>
            </a:xfrm>
            <a:prstGeom prst="rect">
              <a:avLst/>
            </a:prstGeom>
            <a:solidFill>
              <a:srgbClr val="E4F3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8681" name="Text Box 9"/>
            <p:cNvSpPr txBox="1">
              <a:spLocks noChangeArrowheads="1"/>
            </p:cNvSpPr>
            <p:nvPr/>
          </p:nvSpPr>
          <p:spPr bwMode="auto">
            <a:xfrm>
              <a:off x="2512" y="3008"/>
              <a:ext cx="2152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IN  Rd,IOaddress  ;Rd = [addr]</a:t>
              </a:r>
            </a:p>
          </p:txBody>
        </p:sp>
        <p:sp>
          <p:nvSpPr>
            <p:cNvPr id="28682" name="Text Box 10"/>
            <p:cNvSpPr txBox="1">
              <a:spLocks noChangeArrowheads="1"/>
            </p:cNvSpPr>
            <p:nvPr/>
          </p:nvSpPr>
          <p:spPr bwMode="auto">
            <a:xfrm>
              <a:off x="2528" y="3352"/>
              <a:ext cx="2272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Example: </a:t>
              </a:r>
            </a:p>
            <a:p>
              <a:pPr>
                <a:spcBef>
                  <a:spcPct val="50000"/>
                </a:spcBef>
              </a:pPr>
              <a:r>
                <a:rPr lang="en-US"/>
                <a:t>    IN  R1, 0x3F	;R1 = SREG</a:t>
              </a:r>
            </a:p>
            <a:p>
              <a:pPr>
                <a:spcBef>
                  <a:spcPct val="50000"/>
                </a:spcBef>
              </a:pPr>
              <a:r>
                <a:rPr lang="en-US"/>
                <a:t>    IN  R17,0x3E 	;R17 = SPH</a:t>
              </a:r>
            </a:p>
          </p:txBody>
        </p:sp>
        <p:sp>
          <p:nvSpPr>
            <p:cNvPr id="28683" name="Text Box 11"/>
            <p:cNvSpPr txBox="1">
              <a:spLocks noChangeArrowheads="1"/>
            </p:cNvSpPr>
            <p:nvPr/>
          </p:nvSpPr>
          <p:spPr bwMode="auto">
            <a:xfrm>
              <a:off x="2376" y="2760"/>
              <a:ext cx="2664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 i="1"/>
                <a:t>IN (IN from IO location)</a:t>
              </a:r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2376" y="2992"/>
              <a:ext cx="2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5" name="Group 13"/>
          <p:cNvGrpSpPr>
            <a:grpSpLocks/>
          </p:cNvGrpSpPr>
          <p:nvPr/>
        </p:nvGrpSpPr>
        <p:grpSpPr bwMode="auto">
          <a:xfrm>
            <a:off x="4341813" y="3729038"/>
            <a:ext cx="4241800" cy="2717800"/>
            <a:chOff x="2424" y="4088"/>
            <a:chExt cx="2672" cy="1232"/>
          </a:xfrm>
        </p:grpSpPr>
        <p:sp>
          <p:nvSpPr>
            <p:cNvPr id="28686" name="Rectangle 14"/>
            <p:cNvSpPr>
              <a:spLocks noChangeArrowheads="1"/>
            </p:cNvSpPr>
            <p:nvPr/>
          </p:nvSpPr>
          <p:spPr bwMode="auto">
            <a:xfrm>
              <a:off x="2424" y="4088"/>
              <a:ext cx="2672" cy="1232"/>
            </a:xfrm>
            <a:prstGeom prst="rect">
              <a:avLst/>
            </a:prstGeom>
            <a:solidFill>
              <a:srgbClr val="E4F3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8687" name="Text Box 15"/>
            <p:cNvSpPr txBox="1">
              <a:spLocks noChangeArrowheads="1"/>
            </p:cNvSpPr>
            <p:nvPr/>
          </p:nvSpPr>
          <p:spPr bwMode="auto">
            <a:xfrm>
              <a:off x="2560" y="4336"/>
              <a:ext cx="2152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OUT  IOAddr,Rd      ;[addr]=Rd</a:t>
              </a:r>
            </a:p>
          </p:txBody>
        </p:sp>
        <p:sp>
          <p:nvSpPr>
            <p:cNvPr id="28688" name="Text Box 16"/>
            <p:cNvSpPr txBox="1">
              <a:spLocks noChangeArrowheads="1"/>
            </p:cNvSpPr>
            <p:nvPr/>
          </p:nvSpPr>
          <p:spPr bwMode="auto">
            <a:xfrm>
              <a:off x="2576" y="4681"/>
              <a:ext cx="236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Example: </a:t>
              </a:r>
            </a:p>
            <a:p>
              <a:pPr>
                <a:spcBef>
                  <a:spcPct val="50000"/>
                </a:spcBef>
              </a:pPr>
              <a:r>
                <a:rPr lang="en-US"/>
                <a:t>    OUT  0x3F,R12    ;SREG = R12</a:t>
              </a:r>
            </a:p>
            <a:p>
              <a:pPr>
                <a:spcBef>
                  <a:spcPct val="50000"/>
                </a:spcBef>
              </a:pPr>
              <a:r>
                <a:rPr lang="en-US"/>
                <a:t>    OUT  0x3E,R15    ;SPH = R15</a:t>
              </a:r>
            </a:p>
          </p:txBody>
        </p:sp>
        <p:sp>
          <p:nvSpPr>
            <p:cNvPr id="28689" name="Text Box 17"/>
            <p:cNvSpPr txBox="1">
              <a:spLocks noChangeArrowheads="1"/>
            </p:cNvSpPr>
            <p:nvPr/>
          </p:nvSpPr>
          <p:spPr bwMode="auto">
            <a:xfrm>
              <a:off x="2424" y="4088"/>
              <a:ext cx="2664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 i="1"/>
                <a:t>OUT (OUT to I/O location)</a:t>
              </a:r>
            </a:p>
          </p:txBody>
        </p:sp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>
              <a:off x="2424" y="4320"/>
              <a:ext cx="2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26" name="Group 54"/>
          <p:cNvGrpSpPr>
            <a:grpSpLocks/>
          </p:cNvGrpSpPr>
          <p:nvPr/>
        </p:nvGrpSpPr>
        <p:grpSpPr bwMode="auto">
          <a:xfrm>
            <a:off x="4357688" y="3616325"/>
            <a:ext cx="4254500" cy="2044700"/>
            <a:chOff x="1832" y="4100"/>
            <a:chExt cx="2680" cy="1288"/>
          </a:xfrm>
        </p:grpSpPr>
        <p:sp>
          <p:nvSpPr>
            <p:cNvPr id="28721" name="Rectangle 49"/>
            <p:cNvSpPr>
              <a:spLocks noChangeArrowheads="1"/>
            </p:cNvSpPr>
            <p:nvPr/>
          </p:nvSpPr>
          <p:spPr bwMode="auto">
            <a:xfrm>
              <a:off x="1840" y="4100"/>
              <a:ext cx="2672" cy="1288"/>
            </a:xfrm>
            <a:prstGeom prst="rect">
              <a:avLst/>
            </a:prstGeom>
            <a:solidFill>
              <a:srgbClr val="E4F39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8723" name="Text Box 51"/>
            <p:cNvSpPr txBox="1">
              <a:spLocks noChangeArrowheads="1"/>
            </p:cNvSpPr>
            <p:nvPr/>
          </p:nvSpPr>
          <p:spPr bwMode="auto">
            <a:xfrm>
              <a:off x="1832" y="4500"/>
              <a:ext cx="2648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Example: </a:t>
              </a:r>
            </a:p>
            <a:p>
              <a:pPr>
                <a:spcBef>
                  <a:spcPct val="50000"/>
                </a:spcBef>
              </a:pPr>
              <a:r>
                <a:rPr lang="en-US" sz="1600" b="1"/>
                <a:t>    </a:t>
              </a:r>
              <a:r>
                <a:rPr lang="en-US" sz="1600" b="1">
                  <a:latin typeface="Courier New" panose="02070309020205020404" pitchFamily="49" charset="0"/>
                  <a:cs typeface="Courier New" panose="02070309020205020404" pitchFamily="49" charset="0"/>
                </a:rPr>
                <a:t>OUT  SPH,R12    ;OUT  0x3E,R12</a:t>
              </a:r>
            </a:p>
            <a:p>
              <a:pPr>
                <a:spcBef>
                  <a:spcPct val="50000"/>
                </a:spcBef>
              </a:pPr>
              <a:r>
                <a:rPr lang="en-US" sz="1600" b="1">
                  <a:latin typeface="Courier New" panose="02070309020205020404" pitchFamily="49" charset="0"/>
                  <a:cs typeface="Courier New" panose="02070309020205020404" pitchFamily="49" charset="0"/>
                </a:rPr>
                <a:t>  IN	R15,SREG  ;IN   R15,0x3F</a:t>
              </a:r>
            </a:p>
          </p:txBody>
        </p:sp>
        <p:sp>
          <p:nvSpPr>
            <p:cNvPr id="28724" name="Text Box 52"/>
            <p:cNvSpPr txBox="1">
              <a:spLocks noChangeArrowheads="1"/>
            </p:cNvSpPr>
            <p:nvPr/>
          </p:nvSpPr>
          <p:spPr bwMode="auto">
            <a:xfrm>
              <a:off x="1840" y="4100"/>
              <a:ext cx="266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 i="1"/>
                <a:t>Using Names of I/O registers</a:t>
              </a:r>
            </a:p>
          </p:txBody>
        </p:sp>
        <p:sp>
          <p:nvSpPr>
            <p:cNvPr id="28725" name="Line 53"/>
            <p:cNvSpPr>
              <a:spLocks noChangeShapeType="1"/>
            </p:cNvSpPr>
            <p:nvPr/>
          </p:nvSpPr>
          <p:spPr bwMode="auto">
            <a:xfrm>
              <a:off x="1840" y="4422"/>
              <a:ext cx="2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35" name="Group 63"/>
          <p:cNvGrpSpPr>
            <a:grpSpLocks/>
          </p:cNvGrpSpPr>
          <p:nvPr/>
        </p:nvGrpSpPr>
        <p:grpSpPr bwMode="auto">
          <a:xfrm>
            <a:off x="2138363" y="3371850"/>
            <a:ext cx="6934200" cy="2947988"/>
            <a:chOff x="1192" y="4150"/>
            <a:chExt cx="4368" cy="1857"/>
          </a:xfrm>
        </p:grpSpPr>
        <p:sp>
          <p:nvSpPr>
            <p:cNvPr id="28731" name="Rectangle 59"/>
            <p:cNvSpPr>
              <a:spLocks noChangeArrowheads="1"/>
            </p:cNvSpPr>
            <p:nvPr/>
          </p:nvSpPr>
          <p:spPr bwMode="auto">
            <a:xfrm>
              <a:off x="1216" y="4150"/>
              <a:ext cx="4344" cy="1857"/>
            </a:xfrm>
            <a:prstGeom prst="rect">
              <a:avLst/>
            </a:prstGeom>
            <a:solidFill>
              <a:srgbClr val="E4F39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8732" name="Text Box 60"/>
            <p:cNvSpPr txBox="1">
              <a:spLocks noChangeArrowheads="1"/>
            </p:cNvSpPr>
            <p:nvPr/>
          </p:nvSpPr>
          <p:spPr bwMode="auto">
            <a:xfrm>
              <a:off x="1192" y="4168"/>
              <a:ext cx="433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/>
                <a:t>Example: Write a program that adds the contents of the PINC I/O register to the contents of PIND and stores the result in location 0x90 of the SRAM</a:t>
              </a:r>
              <a:endParaRPr lang="en-US" sz="16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733" name="Line 61"/>
            <p:cNvSpPr>
              <a:spLocks noChangeShapeType="1"/>
            </p:cNvSpPr>
            <p:nvPr/>
          </p:nvSpPr>
          <p:spPr bwMode="auto">
            <a:xfrm>
              <a:off x="1216" y="4658"/>
              <a:ext cx="43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424113" y="4248150"/>
            <a:ext cx="5422900" cy="187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Solution:</a:t>
            </a:r>
            <a:r>
              <a:rPr lang="en-US"/>
              <a:t> </a:t>
            </a:r>
          </a:p>
          <a:p>
            <a:pPr>
              <a:spcBef>
                <a:spcPct val="50000"/>
              </a:spcBef>
            </a:pPr>
            <a:r>
              <a:rPr lang="en-US"/>
              <a:t>    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IN	R20,PINC  ;R20 = PINC</a:t>
            </a:r>
          </a:p>
          <a:p>
            <a:pPr>
              <a:spcBef>
                <a:spcPct val="50000"/>
              </a:spcBef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IN	R21,PIND  ;R21 = PIND</a:t>
            </a:r>
          </a:p>
          <a:p>
            <a:pPr>
              <a:spcBef>
                <a:spcPct val="50000"/>
              </a:spcBef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ADD	R20,R21   ;R20 = R20 + R21</a:t>
            </a:r>
          </a:p>
          <a:p>
            <a:pPr>
              <a:spcBef>
                <a:spcPct val="50000"/>
              </a:spcBef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STS	0x90,R20  ;[0x90] = R20</a:t>
            </a:r>
          </a:p>
        </p:txBody>
      </p:sp>
    </p:spTree>
    <p:extLst>
      <p:ext uri="{BB962C8B-B14F-4D97-AF65-F5344CB8AC3E}">
        <p14:creationId xmlns:p14="http://schemas.microsoft.com/office/powerpoint/2010/main" val="171889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8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8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34" grpId="0"/>
      <p:bldP spid="2873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AA16-AC87-4887-8005-D8F7BA96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F503-496D-4291-9341-04182B47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AVR Microcontroller and Embedded Systems: Using Assembly and C by </a:t>
            </a:r>
            <a:r>
              <a:rPr lang="en-US" dirty="0" err="1"/>
              <a:t>Mazidi</a:t>
            </a:r>
            <a:r>
              <a:rPr lang="en-US" dirty="0"/>
              <a:t> et al., Prentice Hall</a:t>
            </a:r>
          </a:p>
          <a:p>
            <a:endParaRPr lang="en-US" dirty="0"/>
          </a:p>
          <a:p>
            <a:pPr lvl="1"/>
            <a:r>
              <a:rPr lang="en-US" dirty="0"/>
              <a:t>Chapter 2: 2.1-2.3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23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304800"/>
            <a:ext cx="7562850" cy="1224136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8" name="Picture 2" descr="http://blog.adaptivity.com/wp-content/uploads/2011/05/iStock_000007274585XSmal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1219200"/>
            <a:ext cx="5257800" cy="3488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BC Template">
  <a:themeElements>
    <a:clrScheme name="UBC Theme Color">
      <a:dk1>
        <a:srgbClr val="002040"/>
      </a:dk1>
      <a:lt1>
        <a:sysClr val="window" lastClr="FFFFFF"/>
      </a:lt1>
      <a:dk2>
        <a:srgbClr val="486B7F"/>
      </a:dk2>
      <a:lt2>
        <a:srgbClr val="EEECE1"/>
      </a:lt2>
      <a:accent1>
        <a:srgbClr val="002040"/>
      </a:accent1>
      <a:accent2>
        <a:srgbClr val="2E526B"/>
      </a:accent2>
      <a:accent3>
        <a:srgbClr val="6A8999"/>
      </a:accent3>
      <a:accent4>
        <a:srgbClr val="A7B9C1"/>
      </a:accent4>
      <a:accent5>
        <a:srgbClr val="BECBD0"/>
      </a:accent5>
      <a:accent6>
        <a:srgbClr val="D0DCDF"/>
      </a:accent6>
      <a:hlink>
        <a:srgbClr val="0000FF"/>
      </a:hlink>
      <a:folHlink>
        <a:srgbClr val="800080"/>
      </a:folHlink>
    </a:clrScheme>
    <a:fontScheme name="UBC Theme Font">
      <a:majorFont>
        <a:latin typeface="UBC Theme Font"/>
        <a:ea typeface=""/>
        <a:cs typeface=""/>
      </a:majorFont>
      <a:minorFont>
        <a:latin typeface="UBC Theme Fo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60590</TotalTime>
  <Words>855</Words>
  <Application>Microsoft Office PowerPoint</Application>
  <PresentationFormat>On-screen Show (4:3)</PresentationFormat>
  <Paragraphs>181</Paragraphs>
  <Slides>17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ＭＳ Ｐゴシック</vt:lpstr>
      <vt:lpstr>Arial</vt:lpstr>
      <vt:lpstr>Calibri</vt:lpstr>
      <vt:lpstr>Courier New</vt:lpstr>
      <vt:lpstr>Palatino Linotype</vt:lpstr>
      <vt:lpstr>Verdana</vt:lpstr>
      <vt:lpstr>WhitneyHTF-Bold</vt:lpstr>
      <vt:lpstr>Wingdings</vt:lpstr>
      <vt:lpstr>UBC Template</vt:lpstr>
      <vt:lpstr>Visio</vt:lpstr>
      <vt:lpstr>PowerPoint Presentation</vt:lpstr>
      <vt:lpstr>Modeling Finite State Machines</vt:lpstr>
      <vt:lpstr>Subtraction</vt:lpstr>
      <vt:lpstr>Increment and Decrement</vt:lpstr>
      <vt:lpstr>Modeling Finite State Machines</vt:lpstr>
      <vt:lpstr>AVR Data Memory</vt:lpstr>
      <vt:lpstr>AVR Data Memory: Data Memory Space</vt:lpstr>
      <vt:lpstr>Data Address Space</vt:lpstr>
      <vt:lpstr>AVR Data Memory Space: GPRs</vt:lpstr>
      <vt:lpstr>AVR Data Memory Space: I/O Memory</vt:lpstr>
      <vt:lpstr>AVR Data Memory Space: I/O Memory</vt:lpstr>
      <vt:lpstr>AVR Data Memory Space: Internal SRAM</vt:lpstr>
      <vt:lpstr>Data Address Space</vt:lpstr>
      <vt:lpstr>PowerPoint Presentation</vt:lpstr>
      <vt:lpstr>Data Address Space</vt:lpstr>
      <vt:lpstr>Reading Assignment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Rehan</dc:creator>
  <cp:lastModifiedBy>Asra Abid Siddiqui</cp:lastModifiedBy>
  <cp:revision>2131</cp:revision>
  <dcterms:created xsi:type="dcterms:W3CDTF">2011-08-14T17:55:34Z</dcterms:created>
  <dcterms:modified xsi:type="dcterms:W3CDTF">2024-09-22T08:58:41Z</dcterms:modified>
</cp:coreProperties>
</file>